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67" r:id="rId15"/>
    <p:sldId id="268" r:id="rId16"/>
    <p:sldId id="269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84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78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3269" cy="10287000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3672905" y="7324726"/>
            <a:ext cx="4615094" cy="2962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1500" b="1" kern="0" spc="-1260" dirty="0">
                <a:solidFill>
                  <a:srgbClr val="FBF1F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RL</a:t>
            </a:r>
            <a:endParaRPr lang="en-US" sz="3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750" y="2829358"/>
            <a:ext cx="12753975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kern="0" spc="285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SAFETY-AWARE REINFORCEMENT LEARNING</a:t>
            </a:r>
            <a:endParaRPr lang="en-US" sz="14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3310749"/>
            <a:ext cx="12753975" cy="1583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b="1" kern="0" spc="-175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AGV 배터리 충전 스케줄링 </a:t>
            </a:r>
            <a:r>
              <a:rPr lang="en-US" sz="5850" b="1" kern="0" spc="-175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강화학습</a:t>
            </a:r>
            <a:endParaRPr lang="en-US" sz="58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7750" y="5084375"/>
            <a:ext cx="12753975" cy="47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Safety-Aware Reward Shaping 기반 Safe RL 구현</a:t>
            </a:r>
            <a:endParaRPr lang="en-US" sz="22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50" y="5650598"/>
            <a:ext cx="12753975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Deep Q-Network로 방전 사고 </a:t>
            </a:r>
            <a:r>
              <a:rPr lang="en-US" sz="18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Zero</a:t>
            </a:r>
            <a:r>
              <a:rPr lang="en-US" sz="18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를 달성하다</a:t>
            </a:r>
            <a:endParaRPr lang="en-US" sz="1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47750" y="6587405"/>
            <a:ext cx="12382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6881814"/>
            <a:ext cx="688019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이름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7750" y="7111280"/>
            <a:ext cx="688019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김한얼</a:t>
            </a:r>
            <a:endParaRPr lang="en-US" sz="1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97665" y="6881814"/>
            <a:ext cx="91572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학번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97665" y="7111280"/>
            <a:ext cx="915726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A74030</a:t>
            </a:r>
            <a:endParaRPr lang="en-US" sz="1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75286" y="6881814"/>
            <a:ext cx="3571308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GITHUB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75286" y="7111280"/>
            <a:ext cx="5150366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https://</a:t>
            </a:r>
            <a:r>
              <a:rPr lang="en-US" sz="18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github.com/brennix586/RL_AGV</a:t>
            </a:r>
            <a:endParaRPr lang="en-US" sz="1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37872" y="6881814"/>
            <a:ext cx="108985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날짜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37872" y="7111280"/>
            <a:ext cx="2024478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2026. 06.12</a:t>
            </a:r>
            <a:endParaRPr lang="en-US" sz="1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1314152"/>
            <a:ext cx="1645930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728581"/>
            <a:ext cx="742788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057221" y="804781"/>
            <a:ext cx="533238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목차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66575" y="704769"/>
            <a:ext cx="1706003" cy="43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Contents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95785" y="761865"/>
            <a:ext cx="140778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11 sections ·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Problem → Method → Result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392359" y="3259164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2471929" y="2687258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01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48179" y="2638010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45" y="2704577"/>
            <a:ext cx="190500" cy="1905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62448" y="2643963"/>
            <a:ext cx="3039240" cy="26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프로젝트 주제 및 목표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132754" y="3275012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0"/>
          <p:cNvSpPr/>
          <p:nvPr/>
        </p:nvSpPr>
        <p:spPr>
          <a:xfrm>
            <a:off x="9212325" y="2703106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02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688574" y="2653858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5141" y="2720425"/>
            <a:ext cx="190500" cy="190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02844" y="2537366"/>
            <a:ext cx="1319645" cy="34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환경 설명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202844" y="2877641"/>
            <a:ext cx="3857062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7×7 GridWorld · State·Action·Reward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2392359" y="4356549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5"/>
          <p:cNvSpPr/>
          <p:nvPr/>
        </p:nvSpPr>
        <p:spPr>
          <a:xfrm>
            <a:off x="2471929" y="3901135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03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948179" y="3851886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745" y="3918453"/>
            <a:ext cx="190500" cy="1905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62447" y="3857839"/>
            <a:ext cx="5747117" cy="26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Reward Shaping 설계 (Safety-Aware)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9132754" y="4372397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19"/>
          <p:cNvSpPr/>
          <p:nvPr/>
        </p:nvSpPr>
        <p:spPr>
          <a:xfrm>
            <a:off x="9212325" y="3916983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04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9688574" y="3867734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5141" y="3934301"/>
            <a:ext cx="190500" cy="1905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202844" y="3873687"/>
            <a:ext cx="5423346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소스코드 비교 — Baseline vs Proposed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2392359" y="5453934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3"/>
          <p:cNvSpPr/>
          <p:nvPr/>
        </p:nvSpPr>
        <p:spPr>
          <a:xfrm>
            <a:off x="2471929" y="4998519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05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2948179" y="4949271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4745" y="5015838"/>
            <a:ext cx="190500" cy="1905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462448" y="4955224"/>
            <a:ext cx="3858258" cy="26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알고리즘 및 하이퍼파라미터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9132754" y="5469782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27"/>
          <p:cNvSpPr/>
          <p:nvPr/>
        </p:nvSpPr>
        <p:spPr>
          <a:xfrm>
            <a:off x="9212325" y="5014367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06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9688574" y="4965119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5141" y="5031686"/>
            <a:ext cx="190500" cy="1905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202843" y="4971072"/>
            <a:ext cx="1319647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셋업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2392359" y="6551319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1"/>
          <p:cNvSpPr/>
          <p:nvPr/>
        </p:nvSpPr>
        <p:spPr>
          <a:xfrm>
            <a:off x="2471929" y="6095905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07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2948179" y="6046657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4745" y="6113223"/>
            <a:ext cx="190500" cy="1905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462448" y="6052610"/>
            <a:ext cx="5052078" cy="26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결과 ① — 학습 곡선 · 방전 횟수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Shape 34"/>
          <p:cNvSpPr/>
          <p:nvPr/>
        </p:nvSpPr>
        <p:spPr>
          <a:xfrm>
            <a:off x="9132754" y="6567167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35"/>
          <p:cNvSpPr/>
          <p:nvPr/>
        </p:nvSpPr>
        <p:spPr>
          <a:xfrm>
            <a:off x="9212325" y="6111753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08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9688574" y="6062505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5141" y="6129071"/>
            <a:ext cx="190500" cy="1905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10202844" y="6068458"/>
            <a:ext cx="4887596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결과 ② — 최종 성능 비교 테이블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2392359" y="7649385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39"/>
          <p:cNvSpPr/>
          <p:nvPr/>
        </p:nvSpPr>
        <p:spPr>
          <a:xfrm>
            <a:off x="2471929" y="7193971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09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2948179" y="7144722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4745" y="7211289"/>
            <a:ext cx="190500" cy="19050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3462448" y="7150675"/>
            <a:ext cx="4951920" cy="26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조건 최적화 과정 — Step 0→5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3" name="Shape 42"/>
          <p:cNvSpPr/>
          <p:nvPr/>
        </p:nvSpPr>
        <p:spPr>
          <a:xfrm>
            <a:off x="9132754" y="7665233"/>
            <a:ext cx="586102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Text 43"/>
          <p:cNvSpPr/>
          <p:nvPr/>
        </p:nvSpPr>
        <p:spPr>
          <a:xfrm>
            <a:off x="9212325" y="7209819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10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9688574" y="7160570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55141" y="7227137"/>
            <a:ext cx="190500" cy="19050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0202844" y="7166523"/>
            <a:ext cx="3446367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토의 — Safe RL 관점 해석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8" name="Shape 46"/>
          <p:cNvSpPr/>
          <p:nvPr/>
        </p:nvSpPr>
        <p:spPr>
          <a:xfrm>
            <a:off x="2392359" y="8748962"/>
            <a:ext cx="5861029" cy="9525"/>
          </a:xfrm>
          <a:prstGeom prst="rect">
            <a:avLst/>
          </a:prstGeom>
          <a:solidFill>
            <a:srgbClr val="E5E7EB">
              <a:alpha val="98000"/>
            </a:srgbClr>
          </a:solidFill>
          <a:ln/>
        </p:spPr>
      </p:sp>
      <p:sp>
        <p:nvSpPr>
          <p:cNvPr id="59" name="Text 47"/>
          <p:cNvSpPr/>
          <p:nvPr/>
        </p:nvSpPr>
        <p:spPr>
          <a:xfrm>
            <a:off x="2471929" y="8293548"/>
            <a:ext cx="361950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11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0" name="Shape 48"/>
          <p:cNvSpPr/>
          <p:nvPr/>
        </p:nvSpPr>
        <p:spPr>
          <a:xfrm>
            <a:off x="2948179" y="8244299"/>
            <a:ext cx="323769" cy="323769"/>
          </a:xfrm>
          <a:prstGeom prst="roundRect">
            <a:avLst>
              <a:gd name="adj" fmla="val 26477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4745" y="8310866"/>
            <a:ext cx="190500" cy="19050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3462448" y="8250252"/>
            <a:ext cx="2442239" cy="263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결론 및 향후 연구</a:t>
            </a:r>
            <a:endParaRPr 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1314152"/>
            <a:ext cx="1645930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728581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057221" y="804781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01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640" y="704769"/>
            <a:ext cx="3221661" cy="43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프로젝트 주제 및 목표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40025" y="761865"/>
            <a:ext cx="127336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Reward 설계만으로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안전성 + 효율성 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동시 달성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346" y="2214039"/>
            <a:ext cx="7906590" cy="2622162"/>
          </a:xfrm>
          <a:prstGeom prst="roundRect">
            <a:avLst>
              <a:gd name="adj" fmla="val 3721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4005" y="298846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/>
        </p:spPr>
      </p:sp>
      <p:sp>
        <p:nvSpPr>
          <p:cNvPr id="9" name="Text 7"/>
          <p:cNvSpPr/>
          <p:nvPr/>
        </p:nvSpPr>
        <p:spPr>
          <a:xfrm>
            <a:off x="1265905" y="298846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問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8274" y="3036094"/>
            <a:ext cx="16777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도입 — 문제 제기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04005" y="3521814"/>
            <a:ext cx="6760495" cy="677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물류 자동화의 핵심 과제는 AGV의 </a:t>
            </a: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지속 가능한 운영 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이다. 기존 강화학습은 최단 경로만 학습하여 </a:t>
            </a: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방전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이라는 안전사고를 유발한다.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210594" y="2214039"/>
            <a:ext cx="7906590" cy="2622162"/>
          </a:xfrm>
          <a:prstGeom prst="roundRect">
            <a:avLst>
              <a:gd name="adj" fmla="val 3721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0254" y="298846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/>
        </p:spPr>
      </p:sp>
      <p:sp>
        <p:nvSpPr>
          <p:cNvPr id="14" name="Text 12"/>
          <p:cNvSpPr/>
          <p:nvPr/>
        </p:nvSpPr>
        <p:spPr>
          <a:xfrm>
            <a:off x="9562154" y="298846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法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14523" y="3036094"/>
            <a:ext cx="12200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방법 — 제안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0254" y="3521814"/>
            <a:ext cx="7516930" cy="677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상태를 </a:t>
            </a: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State와 Reward에 동시 반영 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하는 Safety-Aware Reward Shaping을 제안한다.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346" y="5261156"/>
            <a:ext cx="7906590" cy="2622162"/>
          </a:xfrm>
          <a:prstGeom prst="roundRect">
            <a:avLst>
              <a:gd name="adj" fmla="val 3721"/>
            </a:avLst>
          </a:prstGeom>
          <a:solidFill>
            <a:srgbClr val="FBF1F4"/>
          </a:solidFill>
          <a:ln w="8659">
            <a:solidFill>
              <a:srgbClr val="F4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04005" y="619550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/>
        </p:spPr>
      </p:sp>
      <p:sp>
        <p:nvSpPr>
          <p:cNvPr id="19" name="Text 17"/>
          <p:cNvSpPr/>
          <p:nvPr/>
        </p:nvSpPr>
        <p:spPr>
          <a:xfrm>
            <a:off x="1265905" y="619550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果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18274" y="6243133"/>
            <a:ext cx="18810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결과 — 수치로 증명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04005" y="6728854"/>
            <a:ext cx="7516930" cy="35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방전율 0% 달성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과 동시에 작업 처리량도 Baseline 대비 향상시켰다.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10594" y="5261157"/>
            <a:ext cx="7906590" cy="2622162"/>
          </a:xfrm>
          <a:prstGeom prst="roundRect">
            <a:avLst>
              <a:gd name="adj" fmla="val 3721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0254" y="619550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/>
        </p:spPr>
      </p:sp>
      <p:sp>
        <p:nvSpPr>
          <p:cNvPr id="24" name="Text 22"/>
          <p:cNvSpPr/>
          <p:nvPr/>
        </p:nvSpPr>
        <p:spPr>
          <a:xfrm>
            <a:off x="9562154" y="619550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義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114523" y="6243134"/>
            <a:ext cx="18810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의미 — 학술적 기여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00254" y="6728855"/>
            <a:ext cx="7516930" cy="35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Reward 설계만으로 안전성과 효율성을 </a:t>
            </a: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동시에 달성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할 수 있음을 실험적으로 증명한다.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1314152"/>
            <a:ext cx="1645930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728581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057221" y="804781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02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640" y="704769"/>
            <a:ext cx="4626660" cy="43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환경 설명 — 7×7 GridWorld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45025" y="761865"/>
            <a:ext cx="113286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State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(row, col, battery) 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· Action 4 (상하좌우)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E9DF6167-7CEC-46F6-A5EB-7A1B3FE0B52B}"/>
              </a:ext>
            </a:extLst>
          </p:cNvPr>
          <p:cNvGrpSpPr/>
          <p:nvPr/>
        </p:nvGrpSpPr>
        <p:grpSpPr>
          <a:xfrm>
            <a:off x="1747502" y="2802645"/>
            <a:ext cx="4667358" cy="4921827"/>
            <a:chOff x="1006447" y="2669746"/>
            <a:chExt cx="4667358" cy="4921827"/>
          </a:xfrm>
        </p:grpSpPr>
        <p:sp>
          <p:nvSpPr>
            <p:cNvPr id="7" name="Shape 5"/>
            <p:cNvSpPr/>
            <p:nvPr/>
          </p:nvSpPr>
          <p:spPr>
            <a:xfrm>
              <a:off x="1273201" y="2669746"/>
              <a:ext cx="536052" cy="536052"/>
            </a:xfrm>
            <a:prstGeom prst="roundRect">
              <a:avLst>
                <a:gd name="adj" fmla="val 10661"/>
              </a:avLst>
            </a:prstGeom>
            <a:solidFill>
              <a:srgbClr val="A50034"/>
            </a:solidFill>
            <a:ln w="8659">
              <a:solidFill>
                <a:srgbClr val="A50034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1243760" y="2678405"/>
              <a:ext cx="594934" cy="556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FFFFF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C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1866349" y="2669746"/>
              <a:ext cx="536187" cy="536052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1836908" y="2678405"/>
              <a:ext cx="595069" cy="556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2459632" y="2669746"/>
              <a:ext cx="536187" cy="536052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2430191" y="2678405"/>
              <a:ext cx="595069" cy="556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052915" y="2669746"/>
              <a:ext cx="536187" cy="536052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023474" y="2678405"/>
              <a:ext cx="595069" cy="556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3646198" y="2669746"/>
              <a:ext cx="536187" cy="536052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616757" y="2678405"/>
              <a:ext cx="595069" cy="556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239481" y="2669746"/>
              <a:ext cx="536187" cy="536052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210040" y="2678405"/>
              <a:ext cx="595069" cy="556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832764" y="2669746"/>
              <a:ext cx="536187" cy="536052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03323" y="2678405"/>
              <a:ext cx="595069" cy="556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273201" y="3262894"/>
              <a:ext cx="536052" cy="536187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1243760" y="3271553"/>
              <a:ext cx="594934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1866349" y="3262894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836908" y="3271553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2459632" y="3262894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2430191" y="3271553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3052915" y="3262894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3023474" y="3271553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3646198" y="3262894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3616757" y="3271553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4239481" y="3262894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BF1F4"/>
            </a:solidFill>
            <a:ln w="17318">
              <a:solidFill>
                <a:srgbClr val="A50034"/>
              </a:solidFill>
              <a:prstDash val="dash"/>
            </a:ln>
          </p:spPr>
        </p:sp>
        <p:sp>
          <p:nvSpPr>
            <p:cNvPr id="32" name="Text 30"/>
            <p:cNvSpPr/>
            <p:nvPr/>
          </p:nvSpPr>
          <p:spPr>
            <a:xfrm>
              <a:off x="4218699" y="3280212"/>
              <a:ext cx="577751" cy="53965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A50034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T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4832764" y="3262894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4803323" y="3271553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1273201" y="3856177"/>
              <a:ext cx="536052" cy="536187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1243760" y="3864836"/>
              <a:ext cx="594934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1866349" y="3856177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1836908" y="3864836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2459632" y="3856177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2430191" y="3864836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3052915" y="3856177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3023474" y="3864836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3646198" y="3856177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3616757" y="3864836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4239481" y="3856177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4210040" y="3864836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4832764" y="3856177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4803323" y="3864836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9" name="Shape 47"/>
            <p:cNvSpPr/>
            <p:nvPr/>
          </p:nvSpPr>
          <p:spPr>
            <a:xfrm>
              <a:off x="1273201" y="4449460"/>
              <a:ext cx="536052" cy="536187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1243760" y="4458119"/>
              <a:ext cx="594934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1866349" y="4449460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1836908" y="4458119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2459632" y="4449460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2430191" y="4458119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3052915" y="4449460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FFFFF"/>
            </a:solidFill>
            <a:ln w="17318">
              <a:solidFill>
                <a:srgbClr val="15161A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3032133" y="4466778"/>
              <a:ext cx="577751" cy="53965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S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3646198" y="4449460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3616757" y="4458119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9" name="Shape 57"/>
            <p:cNvSpPr/>
            <p:nvPr/>
          </p:nvSpPr>
          <p:spPr>
            <a:xfrm>
              <a:off x="4239481" y="4449460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4210040" y="4458119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4832764" y="4449460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62" name="Text 60"/>
            <p:cNvSpPr/>
            <p:nvPr/>
          </p:nvSpPr>
          <p:spPr>
            <a:xfrm>
              <a:off x="4803323" y="4458119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3" name="Shape 61"/>
            <p:cNvSpPr/>
            <p:nvPr/>
          </p:nvSpPr>
          <p:spPr>
            <a:xfrm>
              <a:off x="1273201" y="5042743"/>
              <a:ext cx="536052" cy="536187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64" name="Text 62"/>
            <p:cNvSpPr/>
            <p:nvPr/>
          </p:nvSpPr>
          <p:spPr>
            <a:xfrm>
              <a:off x="1243760" y="5051402"/>
              <a:ext cx="594934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5" name="Shape 63"/>
            <p:cNvSpPr/>
            <p:nvPr/>
          </p:nvSpPr>
          <p:spPr>
            <a:xfrm>
              <a:off x="1866349" y="5042743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66" name="Text 64"/>
            <p:cNvSpPr/>
            <p:nvPr/>
          </p:nvSpPr>
          <p:spPr>
            <a:xfrm>
              <a:off x="1836908" y="5051402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Shape 65"/>
            <p:cNvSpPr/>
            <p:nvPr/>
          </p:nvSpPr>
          <p:spPr>
            <a:xfrm>
              <a:off x="2459632" y="5042743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68" name="Text 66"/>
            <p:cNvSpPr/>
            <p:nvPr/>
          </p:nvSpPr>
          <p:spPr>
            <a:xfrm>
              <a:off x="2430191" y="5051402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9" name="Shape 67"/>
            <p:cNvSpPr/>
            <p:nvPr/>
          </p:nvSpPr>
          <p:spPr>
            <a:xfrm>
              <a:off x="3052915" y="5042743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70" name="Text 68"/>
            <p:cNvSpPr/>
            <p:nvPr/>
          </p:nvSpPr>
          <p:spPr>
            <a:xfrm>
              <a:off x="3023474" y="5051402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1" name="Shape 69"/>
            <p:cNvSpPr/>
            <p:nvPr/>
          </p:nvSpPr>
          <p:spPr>
            <a:xfrm>
              <a:off x="3646198" y="5042743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3616757" y="5051402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3" name="Shape 71"/>
            <p:cNvSpPr/>
            <p:nvPr/>
          </p:nvSpPr>
          <p:spPr>
            <a:xfrm>
              <a:off x="4239481" y="5042743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74" name="Text 72"/>
            <p:cNvSpPr/>
            <p:nvPr/>
          </p:nvSpPr>
          <p:spPr>
            <a:xfrm>
              <a:off x="4210040" y="5051402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5" name="Shape 73"/>
            <p:cNvSpPr/>
            <p:nvPr/>
          </p:nvSpPr>
          <p:spPr>
            <a:xfrm>
              <a:off x="4832764" y="5042743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76" name="Text 74"/>
            <p:cNvSpPr/>
            <p:nvPr/>
          </p:nvSpPr>
          <p:spPr>
            <a:xfrm>
              <a:off x="4803323" y="5051402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7" name="Shape 75"/>
            <p:cNvSpPr/>
            <p:nvPr/>
          </p:nvSpPr>
          <p:spPr>
            <a:xfrm>
              <a:off x="1273201" y="5636026"/>
              <a:ext cx="536052" cy="536187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78" name="Text 76"/>
            <p:cNvSpPr/>
            <p:nvPr/>
          </p:nvSpPr>
          <p:spPr>
            <a:xfrm>
              <a:off x="1243760" y="5644685"/>
              <a:ext cx="594934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9" name="Shape 77"/>
            <p:cNvSpPr/>
            <p:nvPr/>
          </p:nvSpPr>
          <p:spPr>
            <a:xfrm>
              <a:off x="1866349" y="5636026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80" name="Text 78"/>
            <p:cNvSpPr/>
            <p:nvPr/>
          </p:nvSpPr>
          <p:spPr>
            <a:xfrm>
              <a:off x="1836908" y="5644685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1" name="Shape 79"/>
            <p:cNvSpPr/>
            <p:nvPr/>
          </p:nvSpPr>
          <p:spPr>
            <a:xfrm>
              <a:off x="2459632" y="5636026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82" name="Text 80"/>
            <p:cNvSpPr/>
            <p:nvPr/>
          </p:nvSpPr>
          <p:spPr>
            <a:xfrm>
              <a:off x="2430191" y="5644685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3" name="Shape 81"/>
            <p:cNvSpPr/>
            <p:nvPr/>
          </p:nvSpPr>
          <p:spPr>
            <a:xfrm>
              <a:off x="3052915" y="5636026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84" name="Text 82"/>
            <p:cNvSpPr/>
            <p:nvPr/>
          </p:nvSpPr>
          <p:spPr>
            <a:xfrm>
              <a:off x="3023474" y="5644685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5" name="Shape 83"/>
            <p:cNvSpPr/>
            <p:nvPr/>
          </p:nvSpPr>
          <p:spPr>
            <a:xfrm>
              <a:off x="3646198" y="5636026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86" name="Text 84"/>
            <p:cNvSpPr/>
            <p:nvPr/>
          </p:nvSpPr>
          <p:spPr>
            <a:xfrm>
              <a:off x="3616757" y="5644685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7" name="Shape 85"/>
            <p:cNvSpPr/>
            <p:nvPr/>
          </p:nvSpPr>
          <p:spPr>
            <a:xfrm>
              <a:off x="4239481" y="5636026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4210040" y="5644685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9" name="Shape 87"/>
            <p:cNvSpPr/>
            <p:nvPr/>
          </p:nvSpPr>
          <p:spPr>
            <a:xfrm>
              <a:off x="4832764" y="5636026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90" name="Text 88"/>
            <p:cNvSpPr/>
            <p:nvPr/>
          </p:nvSpPr>
          <p:spPr>
            <a:xfrm>
              <a:off x="4803323" y="5644685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1" name="Shape 89"/>
            <p:cNvSpPr/>
            <p:nvPr/>
          </p:nvSpPr>
          <p:spPr>
            <a:xfrm>
              <a:off x="1273201" y="6229309"/>
              <a:ext cx="536052" cy="536187"/>
            </a:xfrm>
            <a:prstGeom prst="roundRect">
              <a:avLst>
                <a:gd name="adj" fmla="val 1066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92" name="Text 90"/>
            <p:cNvSpPr/>
            <p:nvPr/>
          </p:nvSpPr>
          <p:spPr>
            <a:xfrm>
              <a:off x="1243760" y="6237968"/>
              <a:ext cx="594934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3" name="Shape 91"/>
            <p:cNvSpPr/>
            <p:nvPr/>
          </p:nvSpPr>
          <p:spPr>
            <a:xfrm>
              <a:off x="1866349" y="6229309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94" name="Text 92"/>
            <p:cNvSpPr/>
            <p:nvPr/>
          </p:nvSpPr>
          <p:spPr>
            <a:xfrm>
              <a:off x="1836908" y="6237968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5" name="Shape 93"/>
            <p:cNvSpPr/>
            <p:nvPr/>
          </p:nvSpPr>
          <p:spPr>
            <a:xfrm>
              <a:off x="2459632" y="6229309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96" name="Text 94"/>
            <p:cNvSpPr/>
            <p:nvPr/>
          </p:nvSpPr>
          <p:spPr>
            <a:xfrm>
              <a:off x="2430191" y="6237968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7" name="Shape 95"/>
            <p:cNvSpPr/>
            <p:nvPr/>
          </p:nvSpPr>
          <p:spPr>
            <a:xfrm>
              <a:off x="3052915" y="6229309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98" name="Text 96"/>
            <p:cNvSpPr/>
            <p:nvPr/>
          </p:nvSpPr>
          <p:spPr>
            <a:xfrm>
              <a:off x="3023474" y="6237968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9" name="Shape 97"/>
            <p:cNvSpPr/>
            <p:nvPr/>
          </p:nvSpPr>
          <p:spPr>
            <a:xfrm>
              <a:off x="3646198" y="6229309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00" name="Text 98"/>
            <p:cNvSpPr/>
            <p:nvPr/>
          </p:nvSpPr>
          <p:spPr>
            <a:xfrm>
              <a:off x="3616757" y="6237968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1" name="Shape 99"/>
            <p:cNvSpPr/>
            <p:nvPr/>
          </p:nvSpPr>
          <p:spPr>
            <a:xfrm>
              <a:off x="4239481" y="6229309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02" name="Text 100"/>
            <p:cNvSpPr/>
            <p:nvPr/>
          </p:nvSpPr>
          <p:spPr>
            <a:xfrm>
              <a:off x="4210040" y="6237968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·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3" name="Shape 101"/>
            <p:cNvSpPr/>
            <p:nvPr/>
          </p:nvSpPr>
          <p:spPr>
            <a:xfrm>
              <a:off x="4832764" y="6229309"/>
              <a:ext cx="536187" cy="536187"/>
            </a:xfrm>
            <a:prstGeom prst="roundRect">
              <a:avLst>
                <a:gd name="adj" fmla="val 10659"/>
              </a:avLst>
            </a:prstGeom>
            <a:solidFill>
              <a:srgbClr val="A50034"/>
            </a:solidFill>
            <a:ln w="8659">
              <a:solidFill>
                <a:srgbClr val="A50034"/>
              </a:solidFill>
              <a:prstDash val="solid"/>
            </a:ln>
          </p:spPr>
        </p:sp>
        <p:sp>
          <p:nvSpPr>
            <p:cNvPr id="104" name="Text 102"/>
            <p:cNvSpPr/>
            <p:nvPr/>
          </p:nvSpPr>
          <p:spPr>
            <a:xfrm>
              <a:off x="4803323" y="6237968"/>
              <a:ext cx="595069" cy="5569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FFFFF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C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5" name="Shape 103"/>
            <p:cNvSpPr/>
            <p:nvPr/>
          </p:nvSpPr>
          <p:spPr>
            <a:xfrm>
              <a:off x="1044547" y="7111860"/>
              <a:ext cx="381000" cy="381000"/>
            </a:xfrm>
            <a:prstGeom prst="roundRect">
              <a:avLst>
                <a:gd name="adj" fmla="val 17500"/>
              </a:avLst>
            </a:prstGeom>
            <a:solidFill>
              <a:srgbClr val="A50034"/>
            </a:solidFill>
            <a:ln/>
          </p:spPr>
        </p:sp>
        <p:sp>
          <p:nvSpPr>
            <p:cNvPr id="106" name="Text 104"/>
            <p:cNvSpPr/>
            <p:nvPr/>
          </p:nvSpPr>
          <p:spPr>
            <a:xfrm>
              <a:off x="1006447" y="7111860"/>
              <a:ext cx="457200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75" b="1" dirty="0">
                  <a:solidFill>
                    <a:srgbClr val="FFFFF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C</a:t>
              </a:r>
              <a:endParaRPr lang="en-US" sz="12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7" name="Text 105"/>
            <p:cNvSpPr/>
            <p:nvPr/>
          </p:nvSpPr>
          <p:spPr>
            <a:xfrm>
              <a:off x="1577893" y="7051246"/>
              <a:ext cx="1095402" cy="3151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42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충전소</a:t>
              </a:r>
              <a:endParaRPr lang="en-US" sz="14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8" name="Text 106"/>
            <p:cNvSpPr/>
            <p:nvPr/>
          </p:nvSpPr>
          <p:spPr>
            <a:xfrm>
              <a:off x="1577893" y="7328337"/>
              <a:ext cx="1095402" cy="2632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(0,0)/(6,6) 고정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9" name="Shape 107"/>
            <p:cNvSpPr/>
            <p:nvPr/>
          </p:nvSpPr>
          <p:spPr>
            <a:xfrm>
              <a:off x="2920864" y="7111860"/>
              <a:ext cx="381000" cy="381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17318">
              <a:solidFill>
                <a:srgbClr val="15161A"/>
              </a:solidFill>
              <a:prstDash val="solid"/>
            </a:ln>
          </p:spPr>
        </p:sp>
        <p:sp>
          <p:nvSpPr>
            <p:cNvPr id="110" name="Text 108"/>
            <p:cNvSpPr/>
            <p:nvPr/>
          </p:nvSpPr>
          <p:spPr>
            <a:xfrm>
              <a:off x="2900082" y="7129178"/>
              <a:ext cx="422564" cy="384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S</a:t>
              </a:r>
              <a:endParaRPr lang="en-US" sz="12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1" name="Text 109"/>
            <p:cNvSpPr/>
            <p:nvPr/>
          </p:nvSpPr>
          <p:spPr>
            <a:xfrm>
              <a:off x="3454209" y="7051246"/>
              <a:ext cx="710614" cy="3151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42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출발지</a:t>
              </a:r>
              <a:endParaRPr lang="en-US" sz="14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2" name="Text 110"/>
            <p:cNvSpPr/>
            <p:nvPr/>
          </p:nvSpPr>
          <p:spPr>
            <a:xfrm>
              <a:off x="3454209" y="7328337"/>
              <a:ext cx="710614" cy="2632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(3,3) 고정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3" name="Shape 111"/>
            <p:cNvSpPr/>
            <p:nvPr/>
          </p:nvSpPr>
          <p:spPr>
            <a:xfrm>
              <a:off x="4412392" y="7111860"/>
              <a:ext cx="381000" cy="381000"/>
            </a:xfrm>
            <a:prstGeom prst="roundRect">
              <a:avLst>
                <a:gd name="adj" fmla="val 17500"/>
              </a:avLst>
            </a:prstGeom>
            <a:solidFill>
              <a:srgbClr val="FBF1F4"/>
            </a:solidFill>
            <a:ln w="17318">
              <a:solidFill>
                <a:srgbClr val="A50034"/>
              </a:solidFill>
              <a:prstDash val="dash"/>
            </a:ln>
          </p:spPr>
        </p:sp>
        <p:sp>
          <p:nvSpPr>
            <p:cNvPr id="114" name="Text 112"/>
            <p:cNvSpPr/>
            <p:nvPr/>
          </p:nvSpPr>
          <p:spPr>
            <a:xfrm>
              <a:off x="4391610" y="7129178"/>
              <a:ext cx="422564" cy="384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75" b="1" dirty="0">
                  <a:solidFill>
                    <a:srgbClr val="A50034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T</a:t>
              </a:r>
              <a:endParaRPr lang="en-US" sz="12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5" name="Text 113"/>
            <p:cNvSpPr/>
            <p:nvPr/>
          </p:nvSpPr>
          <p:spPr>
            <a:xfrm>
              <a:off x="4945738" y="7051246"/>
              <a:ext cx="728067" cy="3151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42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목표</a:t>
              </a:r>
              <a:endParaRPr lang="en-US" sz="14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16" name="Text 114"/>
            <p:cNvSpPr/>
            <p:nvPr/>
          </p:nvSpPr>
          <p:spPr>
            <a:xfrm>
              <a:off x="4945738" y="7328337"/>
              <a:ext cx="728067" cy="2632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매 ep 랜덤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24624E98-7EE4-45E8-AEBE-D8ABB2920548}"/>
              </a:ext>
            </a:extLst>
          </p:cNvPr>
          <p:cNvGrpSpPr/>
          <p:nvPr/>
        </p:nvGrpSpPr>
        <p:grpSpPr>
          <a:xfrm>
            <a:off x="7869494" y="2798482"/>
            <a:ext cx="8007296" cy="4896229"/>
            <a:chOff x="8052413" y="2608952"/>
            <a:chExt cx="8007296" cy="4896229"/>
          </a:xfrm>
        </p:grpSpPr>
        <p:sp>
          <p:nvSpPr>
            <p:cNvPr id="117" name="Shape 115"/>
            <p:cNvSpPr/>
            <p:nvPr/>
          </p:nvSpPr>
          <p:spPr>
            <a:xfrm>
              <a:off x="8052413" y="2608952"/>
              <a:ext cx="3918509" cy="507369"/>
            </a:xfrm>
            <a:prstGeom prst="rect">
              <a:avLst/>
            </a:prstGeom>
            <a:solidFill>
              <a:srgbClr val="F7F7F9"/>
            </a:solidFill>
            <a:ln/>
          </p:spPr>
        </p:sp>
        <p:sp>
          <p:nvSpPr>
            <p:cNvPr id="118" name="Shape 116"/>
            <p:cNvSpPr/>
            <p:nvPr/>
          </p:nvSpPr>
          <p:spPr>
            <a:xfrm>
              <a:off x="8052413" y="3099003"/>
              <a:ext cx="3918509" cy="17318"/>
            </a:xfrm>
            <a:prstGeom prst="rect">
              <a:avLst/>
            </a:prstGeom>
            <a:solidFill>
              <a:srgbClr val="15161A"/>
            </a:solidFill>
            <a:ln/>
          </p:spPr>
        </p:sp>
        <p:sp>
          <p:nvSpPr>
            <p:cNvPr id="119" name="Text 117"/>
            <p:cNvSpPr/>
            <p:nvPr/>
          </p:nvSpPr>
          <p:spPr>
            <a:xfrm>
              <a:off x="8223863" y="2732777"/>
              <a:ext cx="3693164" cy="28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50" b="1" kern="0" spc="14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항목</a:t>
              </a:r>
              <a:endParaRPr lang="en-US" sz="13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20" name="Shape 118"/>
            <p:cNvSpPr/>
            <p:nvPr/>
          </p:nvSpPr>
          <p:spPr>
            <a:xfrm>
              <a:off x="10256422" y="2608952"/>
              <a:ext cx="5718056" cy="507369"/>
            </a:xfrm>
            <a:prstGeom prst="rect">
              <a:avLst/>
            </a:prstGeom>
            <a:solidFill>
              <a:srgbClr val="F7F7F9"/>
            </a:solidFill>
            <a:ln/>
          </p:spPr>
        </p:sp>
        <p:sp>
          <p:nvSpPr>
            <p:cNvPr id="121" name="Shape 119"/>
            <p:cNvSpPr/>
            <p:nvPr/>
          </p:nvSpPr>
          <p:spPr>
            <a:xfrm>
              <a:off x="10256422" y="3099003"/>
              <a:ext cx="5718056" cy="17318"/>
            </a:xfrm>
            <a:prstGeom prst="rect">
              <a:avLst/>
            </a:prstGeom>
            <a:solidFill>
              <a:srgbClr val="15161A"/>
            </a:solidFill>
            <a:ln/>
          </p:spPr>
        </p:sp>
        <p:sp>
          <p:nvSpPr>
            <p:cNvPr id="122" name="Text 120"/>
            <p:cNvSpPr/>
            <p:nvPr/>
          </p:nvSpPr>
          <p:spPr>
            <a:xfrm>
              <a:off x="10427872" y="2732777"/>
              <a:ext cx="5631837" cy="28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50" b="1" kern="0" spc="14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설정</a:t>
              </a:r>
              <a:endParaRPr lang="en-US" sz="13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23" name="Shape 121"/>
            <p:cNvSpPr/>
            <p:nvPr/>
          </p:nvSpPr>
          <p:spPr>
            <a:xfrm>
              <a:off x="8052413" y="3671314"/>
              <a:ext cx="3918509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24" name="Text 122"/>
            <p:cNvSpPr/>
            <p:nvPr/>
          </p:nvSpPr>
          <p:spPr>
            <a:xfrm>
              <a:off x="8223863" y="3240146"/>
              <a:ext cx="3693164" cy="3454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맵 크기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25" name="Shape 123"/>
            <p:cNvSpPr/>
            <p:nvPr/>
          </p:nvSpPr>
          <p:spPr>
            <a:xfrm>
              <a:off x="10256422" y="3671314"/>
              <a:ext cx="5718056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26" name="Text 124"/>
            <p:cNvSpPr/>
            <p:nvPr/>
          </p:nvSpPr>
          <p:spPr>
            <a:xfrm>
              <a:off x="10427872" y="3240146"/>
              <a:ext cx="5631837" cy="3454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7 × 7 </a:t>
              </a:r>
              <a:r>
                <a:rPr lang="en-US" sz="1575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(10×10 대비 학습 40% 단축)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27" name="Shape 125"/>
            <p:cNvSpPr/>
            <p:nvPr/>
          </p:nvSpPr>
          <p:spPr>
            <a:xfrm>
              <a:off x="8052413" y="4230638"/>
              <a:ext cx="3918509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28" name="Text 126"/>
            <p:cNvSpPr/>
            <p:nvPr/>
          </p:nvSpPr>
          <p:spPr>
            <a:xfrm>
              <a:off x="8223863" y="3803799"/>
              <a:ext cx="3693164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출발지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29" name="Shape 127"/>
            <p:cNvSpPr/>
            <p:nvPr/>
          </p:nvSpPr>
          <p:spPr>
            <a:xfrm>
              <a:off x="10256422" y="4230638"/>
              <a:ext cx="5718056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30" name="Text 128"/>
            <p:cNvSpPr/>
            <p:nvPr/>
          </p:nvSpPr>
          <p:spPr>
            <a:xfrm>
              <a:off x="10427872" y="3803799"/>
              <a:ext cx="5631837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(3,3)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고정 — 두 충전소까지 거리 동일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1" name="Shape 129"/>
            <p:cNvSpPr/>
            <p:nvPr/>
          </p:nvSpPr>
          <p:spPr>
            <a:xfrm>
              <a:off x="8052413" y="4789961"/>
              <a:ext cx="3918509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32" name="Text 130"/>
            <p:cNvSpPr/>
            <p:nvPr/>
          </p:nvSpPr>
          <p:spPr>
            <a:xfrm>
              <a:off x="8223863" y="4363122"/>
              <a:ext cx="3693164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목표 지점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3" name="Shape 131"/>
            <p:cNvSpPr/>
            <p:nvPr/>
          </p:nvSpPr>
          <p:spPr>
            <a:xfrm>
              <a:off x="10256422" y="4789961"/>
              <a:ext cx="5718056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34" name="Text 132"/>
            <p:cNvSpPr/>
            <p:nvPr/>
          </p:nvSpPr>
          <p:spPr>
            <a:xfrm>
              <a:off x="10427872" y="4363122"/>
              <a:ext cx="5631837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매 에피소드 랜덤 생성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5" name="Shape 133"/>
            <p:cNvSpPr/>
            <p:nvPr/>
          </p:nvSpPr>
          <p:spPr>
            <a:xfrm>
              <a:off x="8052413" y="5349284"/>
              <a:ext cx="3918509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36" name="Text 134"/>
            <p:cNvSpPr/>
            <p:nvPr/>
          </p:nvSpPr>
          <p:spPr>
            <a:xfrm>
              <a:off x="8223863" y="4922445"/>
              <a:ext cx="3693164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충전소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7" name="Shape 135"/>
            <p:cNvSpPr/>
            <p:nvPr/>
          </p:nvSpPr>
          <p:spPr>
            <a:xfrm>
              <a:off x="10256422" y="5349284"/>
              <a:ext cx="5718056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38" name="Text 136"/>
            <p:cNvSpPr/>
            <p:nvPr/>
          </p:nvSpPr>
          <p:spPr>
            <a:xfrm>
              <a:off x="10427872" y="4922445"/>
              <a:ext cx="5631837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(0,0) / (6,6)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고정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9" name="Shape 137"/>
            <p:cNvSpPr/>
            <p:nvPr/>
          </p:nvSpPr>
          <p:spPr>
            <a:xfrm>
              <a:off x="8052413" y="5357943"/>
              <a:ext cx="3918509" cy="559323"/>
            </a:xfrm>
            <a:prstGeom prst="rect">
              <a:avLst/>
            </a:prstGeom>
            <a:solidFill>
              <a:srgbClr val="FBF1F4"/>
            </a:solidFill>
            <a:ln/>
          </p:spPr>
        </p:sp>
        <p:sp>
          <p:nvSpPr>
            <p:cNvPr id="140" name="Shape 138"/>
            <p:cNvSpPr/>
            <p:nvPr/>
          </p:nvSpPr>
          <p:spPr>
            <a:xfrm>
              <a:off x="8052413" y="5908607"/>
              <a:ext cx="3918509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41" name="Text 139"/>
            <p:cNvSpPr/>
            <p:nvPr/>
          </p:nvSpPr>
          <p:spPr>
            <a:xfrm>
              <a:off x="8223863" y="5481768"/>
              <a:ext cx="3693164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A50034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배터리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42" name="Shape 140"/>
            <p:cNvSpPr/>
            <p:nvPr/>
          </p:nvSpPr>
          <p:spPr>
            <a:xfrm>
              <a:off x="10256422" y="5357943"/>
              <a:ext cx="5718056" cy="559323"/>
            </a:xfrm>
            <a:prstGeom prst="rect">
              <a:avLst/>
            </a:prstGeom>
            <a:solidFill>
              <a:srgbClr val="FBF1F4"/>
            </a:solidFill>
            <a:ln/>
          </p:spPr>
        </p:sp>
        <p:sp>
          <p:nvSpPr>
            <p:cNvPr id="143" name="Shape 141"/>
            <p:cNvSpPr/>
            <p:nvPr/>
          </p:nvSpPr>
          <p:spPr>
            <a:xfrm>
              <a:off x="10256422" y="5908607"/>
              <a:ext cx="5718056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44" name="Text 142"/>
            <p:cNvSpPr/>
            <p:nvPr/>
          </p:nvSpPr>
          <p:spPr>
            <a:xfrm>
              <a:off x="10427872" y="5481768"/>
              <a:ext cx="5631837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100 </a:t>
              </a:r>
              <a:r>
                <a:rPr lang="en-US" sz="1575" dirty="0">
                  <a:solidFill>
                    <a:srgbClr val="3C3F46"/>
                  </a:solidFill>
                  <a:highlight>
                    <a:srgbClr val="FBF1F4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초기화 · 스텝당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−3 </a:t>
              </a:r>
              <a:r>
                <a:rPr lang="en-US" sz="1575" dirty="0">
                  <a:solidFill>
                    <a:srgbClr val="3C3F46"/>
                  </a:solidFill>
                  <a:highlight>
                    <a:srgbClr val="FBF1F4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소모 (33스텝 지속)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45" name="Shape 143"/>
            <p:cNvSpPr/>
            <p:nvPr/>
          </p:nvSpPr>
          <p:spPr>
            <a:xfrm>
              <a:off x="8052413" y="6467930"/>
              <a:ext cx="3918509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46" name="Text 144"/>
            <p:cNvSpPr/>
            <p:nvPr/>
          </p:nvSpPr>
          <p:spPr>
            <a:xfrm>
              <a:off x="8223863" y="6041091"/>
              <a:ext cx="3693164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Max Step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47" name="Shape 145"/>
            <p:cNvSpPr/>
            <p:nvPr/>
          </p:nvSpPr>
          <p:spPr>
            <a:xfrm>
              <a:off x="10256422" y="6467930"/>
              <a:ext cx="5718056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48" name="Text 146"/>
            <p:cNvSpPr/>
            <p:nvPr/>
          </p:nvSpPr>
          <p:spPr>
            <a:xfrm>
              <a:off x="10427872" y="6041091"/>
              <a:ext cx="5631837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150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(33스텝마다 충전 필요)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49" name="Shape 147"/>
            <p:cNvSpPr/>
            <p:nvPr/>
          </p:nvSpPr>
          <p:spPr>
            <a:xfrm>
              <a:off x="8052413" y="7027253"/>
              <a:ext cx="3918509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50" name="Text 148"/>
            <p:cNvSpPr/>
            <p:nvPr/>
          </p:nvSpPr>
          <p:spPr>
            <a:xfrm>
              <a:off x="8223863" y="6600414"/>
              <a:ext cx="3693164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State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1" name="Shape 149"/>
            <p:cNvSpPr/>
            <p:nvPr/>
          </p:nvSpPr>
          <p:spPr>
            <a:xfrm>
              <a:off x="10256422" y="7027253"/>
              <a:ext cx="5718056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52" name="Text 150"/>
            <p:cNvSpPr/>
            <p:nvPr/>
          </p:nvSpPr>
          <p:spPr>
            <a:xfrm>
              <a:off x="10427872" y="6600414"/>
              <a:ext cx="5631837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(row, col, battery)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— 3차원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3" name="Text 151"/>
            <p:cNvSpPr/>
            <p:nvPr/>
          </p:nvSpPr>
          <p:spPr>
            <a:xfrm>
              <a:off x="8223863" y="7159737"/>
              <a:ext cx="3693164" cy="3454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Action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4" name="Text 152"/>
            <p:cNvSpPr/>
            <p:nvPr/>
          </p:nvSpPr>
          <p:spPr>
            <a:xfrm>
              <a:off x="10427872" y="7159737"/>
              <a:ext cx="5631837" cy="3454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상 / 하 / 좌 / 우 — Discrete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4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1314152"/>
            <a:ext cx="1645930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728581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057221" y="804781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03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640" y="704769"/>
            <a:ext cx="6556340" cy="43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Reward Shaping 설계 (Safety-Aware)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74705" y="761865"/>
            <a:ext cx="93989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핵심 차이는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R_battery 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항목의 유무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2FB555F-3562-4E1E-B116-5DC7CF079D1A}"/>
              </a:ext>
            </a:extLst>
          </p:cNvPr>
          <p:cNvGrpSpPr/>
          <p:nvPr/>
        </p:nvGrpSpPr>
        <p:grpSpPr>
          <a:xfrm>
            <a:off x="887070" y="2102983"/>
            <a:ext cx="8048102" cy="1025020"/>
            <a:chOff x="914346" y="1655239"/>
            <a:chExt cx="8229654" cy="1025020"/>
          </a:xfrm>
        </p:grpSpPr>
        <p:sp>
          <p:nvSpPr>
            <p:cNvPr id="7" name="Shape 5"/>
            <p:cNvSpPr/>
            <p:nvPr/>
          </p:nvSpPr>
          <p:spPr>
            <a:xfrm>
              <a:off x="914346" y="1655239"/>
              <a:ext cx="8229654" cy="1025020"/>
            </a:xfrm>
            <a:prstGeom prst="roundRect">
              <a:avLst>
                <a:gd name="adj" fmla="val 11151"/>
              </a:avLst>
            </a:prstGeom>
            <a:solidFill>
              <a:srgbClr val="F7F7F9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1227697" y="1955602"/>
              <a:ext cx="270624" cy="46239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550" b="1" dirty="0">
                  <a:solidFill>
                    <a:srgbClr val="A50034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R</a:t>
              </a:r>
              <a:endParaRPr lang="en-US" sz="25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593543" y="1977249"/>
              <a:ext cx="247758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250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=</a:t>
              </a:r>
              <a:endParaRPr lang="en-US" sz="22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1936524" y="1892417"/>
              <a:ext cx="1350818" cy="550664"/>
            </a:xfrm>
            <a:prstGeom prst="roundRect">
              <a:avLst>
                <a:gd name="adj" fmla="val 13838"/>
              </a:avLst>
            </a:prstGeom>
            <a:solidFill>
              <a:srgbClr val="FFFFFF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2097583" y="1977276"/>
              <a:ext cx="1104900" cy="41904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250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R_step</a:t>
              </a:r>
              <a:endParaRPr lang="en-US" sz="22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458766" y="1977249"/>
              <a:ext cx="247758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250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+</a:t>
              </a:r>
              <a:endParaRPr lang="en-US" sz="22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801747" y="1892417"/>
              <a:ext cx="1350818" cy="550664"/>
            </a:xfrm>
            <a:prstGeom prst="roundRect">
              <a:avLst>
                <a:gd name="adj" fmla="val 13838"/>
              </a:avLst>
            </a:prstGeom>
            <a:solidFill>
              <a:srgbClr val="FFFFFF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962806" y="1977276"/>
              <a:ext cx="1104900" cy="41904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250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R_goal</a:t>
              </a:r>
              <a:endParaRPr lang="en-US" sz="22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5323988" y="1977249"/>
              <a:ext cx="247758" cy="419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250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+</a:t>
              </a:r>
              <a:endParaRPr lang="en-US" sz="22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666969" y="1892417"/>
              <a:ext cx="2327942" cy="550664"/>
            </a:xfrm>
            <a:prstGeom prst="roundRect">
              <a:avLst>
                <a:gd name="adj" fmla="val 13838"/>
              </a:avLst>
            </a:prstGeom>
            <a:solidFill>
              <a:srgbClr val="A50034"/>
            </a:solidFill>
            <a:ln w="8659">
              <a:solidFill>
                <a:srgbClr val="A50034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828028" y="1977276"/>
              <a:ext cx="2082024" cy="41904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250" b="1" dirty="0">
                  <a:solidFill>
                    <a:srgbClr val="FFFFF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R_battery ★</a:t>
              </a:r>
              <a:endParaRPr lang="en-US" sz="22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8" name="Shape 16"/>
          <p:cNvSpPr/>
          <p:nvPr/>
        </p:nvSpPr>
        <p:spPr>
          <a:xfrm>
            <a:off x="914346" y="3912962"/>
            <a:ext cx="2395727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346" y="4498262"/>
            <a:ext cx="2395727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20" name="Text 18"/>
          <p:cNvSpPr/>
          <p:nvPr/>
        </p:nvSpPr>
        <p:spPr>
          <a:xfrm>
            <a:off x="1085796" y="4084412"/>
            <a:ext cx="2129027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항목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89373" y="3912962"/>
            <a:ext cx="4607448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22" name="Shape 20"/>
          <p:cNvSpPr/>
          <p:nvPr/>
        </p:nvSpPr>
        <p:spPr>
          <a:xfrm>
            <a:off x="2789373" y="4498262"/>
            <a:ext cx="460744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23" name="Text 21"/>
          <p:cNvSpPr/>
          <p:nvPr/>
        </p:nvSpPr>
        <p:spPr>
          <a:xfrm>
            <a:off x="2960823" y="4084412"/>
            <a:ext cx="4402772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조건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990421" y="3912962"/>
            <a:ext cx="1944751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990421" y="4498262"/>
            <a:ext cx="1944751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26" name="Text 24"/>
          <p:cNvSpPr/>
          <p:nvPr/>
        </p:nvSpPr>
        <p:spPr>
          <a:xfrm>
            <a:off x="6679271" y="4084412"/>
            <a:ext cx="1944751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보상값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14346" y="5174483"/>
            <a:ext cx="23957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1085796" y="4687030"/>
            <a:ext cx="2129027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R_step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89373" y="5174483"/>
            <a:ext cx="460744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2960823" y="4687030"/>
            <a:ext cx="4402772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매 이동 스텝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990421" y="5174483"/>
            <a:ext cx="194475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6679271" y="4687030"/>
            <a:ext cx="1944751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−1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346" y="5837715"/>
            <a:ext cx="23957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1085796" y="5354592"/>
            <a:ext cx="2129027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R_goal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89373" y="5837715"/>
            <a:ext cx="460744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2960823" y="5354592"/>
            <a:ext cx="4402772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목표 지점 도달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90421" y="5837715"/>
            <a:ext cx="194475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6679271" y="5354592"/>
            <a:ext cx="1944751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E8A4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+100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14346" y="5846375"/>
            <a:ext cx="2395727" cy="663232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346" y="6500948"/>
            <a:ext cx="23957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1085796" y="6017825"/>
            <a:ext cx="2129027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R_battery ★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89373" y="5846375"/>
            <a:ext cx="4607448" cy="663232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43" name="Shape 41"/>
          <p:cNvSpPr/>
          <p:nvPr/>
        </p:nvSpPr>
        <p:spPr>
          <a:xfrm>
            <a:off x="2789373" y="6500948"/>
            <a:ext cx="460744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2960823" y="6017825"/>
            <a:ext cx="4402772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&lt; 40% + 충전소 도달 </a:t>
            </a:r>
            <a:r>
              <a:rPr lang="en-US" sz="165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(긴급)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990421" y="5846375"/>
            <a:ext cx="1944751" cy="663232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46" name="Shape 44"/>
          <p:cNvSpPr/>
          <p:nvPr/>
        </p:nvSpPr>
        <p:spPr>
          <a:xfrm>
            <a:off x="6990421" y="6500948"/>
            <a:ext cx="194475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6679271" y="6017825"/>
            <a:ext cx="1944751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1E8A4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+50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346" y="6509607"/>
            <a:ext cx="2395727" cy="663232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49" name="Shape 47"/>
          <p:cNvSpPr/>
          <p:nvPr/>
        </p:nvSpPr>
        <p:spPr>
          <a:xfrm>
            <a:off x="914346" y="7164180"/>
            <a:ext cx="23957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Shape 48"/>
          <p:cNvSpPr/>
          <p:nvPr/>
        </p:nvSpPr>
        <p:spPr>
          <a:xfrm>
            <a:off x="2789373" y="6509607"/>
            <a:ext cx="4607448" cy="663232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51" name="Shape 49"/>
          <p:cNvSpPr/>
          <p:nvPr/>
        </p:nvSpPr>
        <p:spPr>
          <a:xfrm>
            <a:off x="2789373" y="7164180"/>
            <a:ext cx="460744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2960823" y="6681057"/>
            <a:ext cx="4402772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≥ 40% + 충전소 도달 </a:t>
            </a:r>
            <a:r>
              <a:rPr lang="en-US" sz="165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(시간 낭비)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990421" y="6509607"/>
            <a:ext cx="1944751" cy="663232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54" name="Shape 52"/>
          <p:cNvSpPr/>
          <p:nvPr/>
        </p:nvSpPr>
        <p:spPr>
          <a:xfrm>
            <a:off x="6990421" y="7164180"/>
            <a:ext cx="194475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Text 53"/>
          <p:cNvSpPr/>
          <p:nvPr/>
        </p:nvSpPr>
        <p:spPr>
          <a:xfrm>
            <a:off x="6679271" y="6681057"/>
            <a:ext cx="1944751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−10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14346" y="7172839"/>
            <a:ext cx="2395727" cy="658903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57" name="Shape 55"/>
          <p:cNvSpPr/>
          <p:nvPr/>
        </p:nvSpPr>
        <p:spPr>
          <a:xfrm>
            <a:off x="2789373" y="7172839"/>
            <a:ext cx="4607448" cy="658903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58" name="Text 56"/>
          <p:cNvSpPr/>
          <p:nvPr/>
        </p:nvSpPr>
        <p:spPr>
          <a:xfrm>
            <a:off x="2960823" y="7344289"/>
            <a:ext cx="4402772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= 0% </a:t>
            </a:r>
            <a:r>
              <a:rPr lang="en-US" sz="165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(방전 — 대형 사고)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990421" y="7172839"/>
            <a:ext cx="1944751" cy="658903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60" name="Text 58"/>
          <p:cNvSpPr/>
          <p:nvPr/>
        </p:nvSpPr>
        <p:spPr>
          <a:xfrm>
            <a:off x="6679271" y="7344289"/>
            <a:ext cx="1944751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−200 + 종료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467510" y="4220305"/>
            <a:ext cx="196861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vs Proposed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0467510" y="4623765"/>
            <a:ext cx="2358385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63" name="Shape 61"/>
          <p:cNvSpPr/>
          <p:nvPr/>
        </p:nvSpPr>
        <p:spPr>
          <a:xfrm>
            <a:off x="10467510" y="5209065"/>
            <a:ext cx="2358385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64" name="Text 62"/>
          <p:cNvSpPr/>
          <p:nvPr/>
        </p:nvSpPr>
        <p:spPr>
          <a:xfrm>
            <a:off x="10638960" y="4795215"/>
            <a:ext cx="2091685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구분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2825895" y="4623765"/>
            <a:ext cx="2785115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66" name="Shape 64"/>
          <p:cNvSpPr/>
          <p:nvPr/>
        </p:nvSpPr>
        <p:spPr>
          <a:xfrm>
            <a:off x="12825895" y="5209065"/>
            <a:ext cx="2785115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67" name="Text 65"/>
          <p:cNvSpPr/>
          <p:nvPr/>
        </p:nvSpPr>
        <p:spPr>
          <a:xfrm>
            <a:off x="12997345" y="4795215"/>
            <a:ext cx="2525769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Reward 구성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4912510" y="4623765"/>
            <a:ext cx="1682164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69" name="Shape 67"/>
          <p:cNvSpPr/>
          <p:nvPr/>
        </p:nvSpPr>
        <p:spPr>
          <a:xfrm>
            <a:off x="14912510" y="5209065"/>
            <a:ext cx="1682164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70" name="Text 68"/>
          <p:cNvSpPr/>
          <p:nvPr/>
        </p:nvSpPr>
        <p:spPr>
          <a:xfrm>
            <a:off x="15083960" y="4795215"/>
            <a:ext cx="1415464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프레임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0467510" y="5885286"/>
            <a:ext cx="235838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70"/>
          <p:cNvSpPr/>
          <p:nvPr/>
        </p:nvSpPr>
        <p:spPr>
          <a:xfrm>
            <a:off x="10638960" y="5397833"/>
            <a:ext cx="2091685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12825895" y="5885286"/>
            <a:ext cx="27851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72"/>
          <p:cNvSpPr/>
          <p:nvPr/>
        </p:nvSpPr>
        <p:spPr>
          <a:xfrm>
            <a:off x="12997345" y="5397833"/>
            <a:ext cx="2525769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R_step + R_goal</a:t>
            </a:r>
            <a:endParaRPr lang="en-US" sz="12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4912510" y="5885286"/>
            <a:ext cx="16821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6" name="Text 74"/>
          <p:cNvSpPr/>
          <p:nvPr/>
        </p:nvSpPr>
        <p:spPr>
          <a:xfrm>
            <a:off x="15083960" y="5397833"/>
            <a:ext cx="1415464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일반 RL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0467510" y="5893945"/>
            <a:ext cx="2358385" cy="658903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78" name="Text 76"/>
          <p:cNvSpPr/>
          <p:nvPr/>
        </p:nvSpPr>
        <p:spPr>
          <a:xfrm>
            <a:off x="10638960" y="6065395"/>
            <a:ext cx="2091685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★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12825895" y="5893945"/>
            <a:ext cx="2785115" cy="658903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80" name="Text 78"/>
          <p:cNvSpPr/>
          <p:nvPr/>
        </p:nvSpPr>
        <p:spPr>
          <a:xfrm>
            <a:off x="12997345" y="6065395"/>
            <a:ext cx="2525769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+ R_battery</a:t>
            </a:r>
            <a:endParaRPr lang="en-US" sz="12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4912510" y="5893945"/>
            <a:ext cx="1682164" cy="658903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82" name="Text 80"/>
          <p:cNvSpPr/>
          <p:nvPr/>
        </p:nvSpPr>
        <p:spPr>
          <a:xfrm>
            <a:off x="15083960" y="6065395"/>
            <a:ext cx="1415464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Safe RL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914346" y="9064444"/>
            <a:ext cx="16459308" cy="555805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84" name="Shape 82"/>
          <p:cNvSpPr/>
          <p:nvPr/>
        </p:nvSpPr>
        <p:spPr>
          <a:xfrm>
            <a:off x="914346" y="9064444"/>
            <a:ext cx="25977" cy="555805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85" name="Text 83"/>
          <p:cNvSpPr/>
          <p:nvPr/>
        </p:nvSpPr>
        <p:spPr>
          <a:xfrm>
            <a:off x="1149873" y="9216844"/>
            <a:ext cx="16508010" cy="28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상태를 보상에 내재화 → </a:t>
            </a: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방전 사고 Zero </a:t>
            </a: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달성 여부를 결정한다. 핵심 차이는 </a:t>
            </a: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R_battery 항목의 유무 </a:t>
            </a: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하나다.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73" y="1180884"/>
            <a:ext cx="16611653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838173" y="595312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981048" y="671512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04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97467" y="571500"/>
            <a:ext cx="2083891" cy="43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소스코드 비교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05543" y="628596"/>
            <a:ext cx="140442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R_battery 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항목의 유무 → 방전 사고 Zero 결정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8173" y="1750570"/>
            <a:ext cx="849538" cy="257879"/>
          </a:xfrm>
          <a:prstGeom prst="roundRect">
            <a:avLst>
              <a:gd name="adj" fmla="val 22162"/>
            </a:avLst>
          </a:prstGeom>
          <a:solidFill>
            <a:srgbClr val="ECEEF1"/>
          </a:solidFill>
          <a:ln/>
        </p:spPr>
      </p:sp>
      <p:sp>
        <p:nvSpPr>
          <p:cNvPr id="8" name="Text 6"/>
          <p:cNvSpPr/>
          <p:nvPr/>
        </p:nvSpPr>
        <p:spPr>
          <a:xfrm>
            <a:off x="942948" y="1788670"/>
            <a:ext cx="716188" cy="219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Baseline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01903" y="1758283"/>
            <a:ext cx="985405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무시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38173" y="2160795"/>
            <a:ext cx="6727826" cy="6204509"/>
          </a:xfrm>
          <a:prstGeom prst="roundRect">
            <a:avLst>
              <a:gd name="adj" fmla="val 1522"/>
            </a:avLst>
          </a:prstGeom>
          <a:solidFill>
            <a:srgbClr val="F7F7F9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5351" y="2378896"/>
            <a:ext cx="6087449" cy="4961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def step(self, action):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이동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</a:t>
            </a:r>
            <a:r>
              <a:rPr lang="en-US" altLang="ko-KR" sz="14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self._move</a:t>
            </a: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(action)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배터리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소모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</a:t>
            </a:r>
            <a:r>
              <a:rPr lang="en-US" altLang="ko-KR" sz="14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self.battery</a:t>
            </a: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-= 1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reward = R_STEP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-1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목표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도달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시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보상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if pos == goal: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reward += R_GOAL 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# +100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terminated = True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방전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체크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if </a:t>
            </a:r>
            <a:r>
              <a:rPr lang="en-US" altLang="ko-KR" sz="14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self.battery</a:t>
            </a: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== 0: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terminated = True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←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방전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패널티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없음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!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←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R_battery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없음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!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78774" y="1750570"/>
            <a:ext cx="1076839" cy="257879"/>
          </a:xfrm>
          <a:prstGeom prst="roundRect">
            <a:avLst>
              <a:gd name="adj" fmla="val 22162"/>
            </a:avLst>
          </a:prstGeom>
          <a:solidFill>
            <a:srgbClr val="A50034"/>
          </a:solidFill>
          <a:ln/>
        </p:spPr>
      </p:sp>
      <p:sp>
        <p:nvSpPr>
          <p:cNvPr id="13" name="Text 11"/>
          <p:cNvSpPr/>
          <p:nvPr/>
        </p:nvSpPr>
        <p:spPr>
          <a:xfrm>
            <a:off x="8083549" y="1788670"/>
            <a:ext cx="943489" cy="219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Proposed ★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69806" y="1758283"/>
            <a:ext cx="3004403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Safety-Aware Reward Shaping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78774" y="2160795"/>
            <a:ext cx="6727826" cy="6204509"/>
          </a:xfrm>
          <a:prstGeom prst="roundRect">
            <a:avLst>
              <a:gd name="adj" fmla="val 1522"/>
            </a:avLst>
          </a:prstGeom>
          <a:solidFill>
            <a:srgbClr val="FBF1F4"/>
          </a:solidFill>
          <a:ln w="8659">
            <a:solidFill>
              <a:srgbClr val="F4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752" y="2378896"/>
            <a:ext cx="5906448" cy="4961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def step(self, action):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이동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</a:t>
            </a:r>
            <a:r>
              <a:rPr lang="en-US" altLang="ko-KR" sz="14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self._move</a:t>
            </a: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(action)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배터리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소모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</a:t>
            </a:r>
            <a:r>
              <a:rPr lang="en-US" altLang="ko-KR" sz="14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self.battery</a:t>
            </a: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-= 1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reward = R_STEP 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# -1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★ </a:t>
            </a:r>
            <a:r>
              <a:rPr lang="en-US" altLang="ko-KR" sz="1400" b="1" dirty="0" err="1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충전소</a:t>
            </a:r>
            <a:r>
              <a:rPr lang="en-US" altLang="ko-KR" sz="14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Reward Shaping</a:t>
            </a:r>
            <a:endParaRPr lang="en-US" altLang="ko-KR" sz="1400" b="1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if pos in </a:t>
            </a:r>
            <a:r>
              <a:rPr lang="en-US" altLang="ko-KR" sz="14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charging_stations</a:t>
            </a: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: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if battery &lt; 40: 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#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긴급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충전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  reward += R_CHARGE_LOW  # +50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else: 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#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시간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낭비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  reward += R_CHARGE_WASTE  # -10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</a:t>
            </a:r>
            <a:r>
              <a:rPr lang="en-US" altLang="ko-KR" sz="14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self.battery</a:t>
            </a: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= 100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#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완충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# ★ </a:t>
            </a:r>
            <a:r>
              <a:rPr lang="en-US" altLang="ko-KR" sz="1400" b="1" dirty="0" err="1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방전</a:t>
            </a:r>
            <a:r>
              <a:rPr lang="en-US" altLang="ko-KR" sz="14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</a:t>
            </a:r>
            <a:r>
              <a:rPr lang="en-US" altLang="ko-KR" sz="1400" b="1" dirty="0" err="1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패널티</a:t>
            </a:r>
            <a:r>
              <a:rPr lang="en-US" altLang="ko-KR" sz="14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(-200)</a:t>
            </a:r>
            <a:endParaRPr lang="en-US" altLang="ko-KR" sz="1400" b="1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if </a:t>
            </a:r>
            <a:r>
              <a:rPr lang="en-US" altLang="ko-KR" sz="14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self.battery</a:t>
            </a: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== 0: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reward += R_DEAD 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# -200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Courier New" pitchFamily="34" charset="-120"/>
              </a:rPr>
              <a:t>    terminated = True</a:t>
            </a:r>
            <a:endParaRPr lang="en-US" altLang="ko-KR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8173" y="9197848"/>
            <a:ext cx="16611653" cy="555805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173" y="9197848"/>
            <a:ext cx="25977" cy="555805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19" name="Text 17"/>
          <p:cNvSpPr/>
          <p:nvPr/>
        </p:nvSpPr>
        <p:spPr>
          <a:xfrm>
            <a:off x="1073700" y="9350248"/>
            <a:ext cx="16664926" cy="28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핵심 차이: </a:t>
            </a: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R_battery 항목의 유무 </a:t>
            </a: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하나가 → 방전 사고 Zero 달성 여부를 결정한다.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1314152"/>
            <a:ext cx="1645930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728581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057221" y="804781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05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640" y="704769"/>
            <a:ext cx="6303041" cy="39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알고리즘 및 하이퍼파라미터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54069" y="761865"/>
            <a:ext cx="118195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DQN — NumPy 순수 구현 ·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~18,180 params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45BEFDC-B405-4884-90C6-9EC61B90BAEC}"/>
              </a:ext>
            </a:extLst>
          </p:cNvPr>
          <p:cNvGrpSpPr/>
          <p:nvPr/>
        </p:nvGrpSpPr>
        <p:grpSpPr>
          <a:xfrm>
            <a:off x="1735899" y="3304580"/>
            <a:ext cx="6616754" cy="2934649"/>
            <a:chOff x="1513586" y="3446235"/>
            <a:chExt cx="6616754" cy="2934649"/>
          </a:xfrm>
        </p:grpSpPr>
        <p:sp>
          <p:nvSpPr>
            <p:cNvPr id="7" name="Text 5"/>
            <p:cNvSpPr/>
            <p:nvPr/>
          </p:nvSpPr>
          <p:spPr>
            <a:xfrm>
              <a:off x="1513586" y="3446235"/>
              <a:ext cx="6616754" cy="4463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50" b="1" kern="0" spc="-13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DQN 네트워크 구조</a:t>
              </a:r>
              <a:endParaRPr lang="en-US" sz="13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2705019" y="4350652"/>
              <a:ext cx="361923" cy="361923"/>
            </a:xfrm>
            <a:prstGeom prst="ellipse">
              <a:avLst/>
            </a:prstGeom>
            <a:solidFill>
              <a:srgbClr val="FFFFFF"/>
            </a:solidFill>
            <a:ln w="17318">
              <a:solidFill>
                <a:srgbClr val="15161A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2705019" y="4817295"/>
              <a:ext cx="361923" cy="361923"/>
            </a:xfrm>
            <a:prstGeom prst="ellipse">
              <a:avLst/>
            </a:prstGeom>
            <a:solidFill>
              <a:srgbClr val="FFFFFF"/>
            </a:solidFill>
            <a:ln w="17318">
              <a:solidFill>
                <a:srgbClr val="15161A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2705019" y="5283940"/>
              <a:ext cx="361923" cy="361923"/>
            </a:xfrm>
            <a:prstGeom prst="ellipse">
              <a:avLst/>
            </a:prstGeom>
            <a:solidFill>
              <a:srgbClr val="FFFFFF"/>
            </a:solidFill>
            <a:ln w="17318">
              <a:solidFill>
                <a:srgbClr val="15161A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2686618" y="5733265"/>
              <a:ext cx="474789" cy="26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Input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2513490" y="5948525"/>
              <a:ext cx="744979" cy="19897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975" b="1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state (3)</a:t>
              </a:r>
              <a:endParaRPr 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220370" y="5220620"/>
              <a:ext cx="628596" cy="18942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3328879" y="5011178"/>
              <a:ext cx="487777" cy="18530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Xavier</a:t>
              </a:r>
              <a:endParaRPr 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4039466" y="4117398"/>
              <a:ext cx="361923" cy="361923"/>
            </a:xfrm>
            <a:prstGeom prst="ellipse">
              <a:avLst/>
            </a:prstGeom>
            <a:solidFill>
              <a:srgbClr val="A50034"/>
            </a:solidFill>
            <a:ln w="17318">
              <a:solidFill>
                <a:srgbClr val="A50034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4039466" y="4584041"/>
              <a:ext cx="361923" cy="361923"/>
            </a:xfrm>
            <a:prstGeom prst="ellipse">
              <a:avLst/>
            </a:prstGeom>
            <a:solidFill>
              <a:srgbClr val="A50034"/>
            </a:solidFill>
            <a:ln w="17318">
              <a:solidFill>
                <a:srgbClr val="A50034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039466" y="5050685"/>
              <a:ext cx="361923" cy="361923"/>
            </a:xfrm>
            <a:prstGeom prst="ellipse">
              <a:avLst/>
            </a:prstGeom>
            <a:solidFill>
              <a:srgbClr val="A50034"/>
            </a:solidFill>
            <a:ln w="17318">
              <a:solidFill>
                <a:srgbClr val="A50034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4039466" y="5517329"/>
              <a:ext cx="361923" cy="361923"/>
            </a:xfrm>
            <a:prstGeom prst="ellipse">
              <a:avLst/>
            </a:prstGeom>
            <a:solidFill>
              <a:srgbClr val="FFFFFF"/>
            </a:solidFill>
            <a:ln w="17318">
              <a:solidFill>
                <a:srgbClr val="A50034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3962616" y="5966654"/>
              <a:ext cx="591957" cy="2632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Hidden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3810866" y="6181914"/>
              <a:ext cx="819258" cy="19897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975" b="1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128 · ReLU</a:t>
              </a:r>
              <a:endParaRPr 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4592024" y="5220620"/>
              <a:ext cx="628596" cy="18942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5411120" y="4117398"/>
              <a:ext cx="361923" cy="361923"/>
            </a:xfrm>
            <a:prstGeom prst="ellipse">
              <a:avLst/>
            </a:prstGeom>
            <a:solidFill>
              <a:srgbClr val="A50034"/>
            </a:solidFill>
            <a:ln w="17318">
              <a:solidFill>
                <a:srgbClr val="A50034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5411120" y="4584041"/>
              <a:ext cx="361923" cy="361923"/>
            </a:xfrm>
            <a:prstGeom prst="ellipse">
              <a:avLst/>
            </a:prstGeom>
            <a:solidFill>
              <a:srgbClr val="A50034"/>
            </a:solidFill>
            <a:ln w="17318">
              <a:solidFill>
                <a:srgbClr val="A50034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411120" y="5050685"/>
              <a:ext cx="361923" cy="361923"/>
            </a:xfrm>
            <a:prstGeom prst="ellipse">
              <a:avLst/>
            </a:prstGeom>
            <a:solidFill>
              <a:srgbClr val="FFFFFF"/>
            </a:solidFill>
            <a:ln w="17318">
              <a:solidFill>
                <a:srgbClr val="A50034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5411120" y="5517329"/>
              <a:ext cx="361923" cy="361923"/>
            </a:xfrm>
            <a:prstGeom prst="ellipse">
              <a:avLst/>
            </a:prstGeom>
            <a:solidFill>
              <a:srgbClr val="A50034"/>
            </a:solidFill>
            <a:ln w="17318">
              <a:solidFill>
                <a:srgbClr val="A5003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334270" y="5966654"/>
              <a:ext cx="591957" cy="2632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Hidden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5182520" y="6181914"/>
              <a:ext cx="819258" cy="19897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975" b="1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128 · ReLU</a:t>
              </a:r>
              <a:endParaRPr 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5963678" y="5220620"/>
              <a:ext cx="628596" cy="18942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6661276" y="4117398"/>
              <a:ext cx="361923" cy="361923"/>
            </a:xfrm>
            <a:prstGeom prst="ellipse">
              <a:avLst/>
            </a:prstGeom>
            <a:solidFill>
              <a:srgbClr val="FFFFFF"/>
            </a:solidFill>
            <a:ln w="17318">
              <a:solidFill>
                <a:srgbClr val="15161A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6661276" y="4584041"/>
              <a:ext cx="361923" cy="361923"/>
            </a:xfrm>
            <a:prstGeom prst="ellipse">
              <a:avLst/>
            </a:prstGeom>
            <a:solidFill>
              <a:srgbClr val="FFFFFF"/>
            </a:solidFill>
            <a:ln w="17318">
              <a:solidFill>
                <a:srgbClr val="15161A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661276" y="5050685"/>
              <a:ext cx="361923" cy="361923"/>
            </a:xfrm>
            <a:prstGeom prst="ellipse">
              <a:avLst/>
            </a:prstGeom>
            <a:solidFill>
              <a:srgbClr val="FFFFFF"/>
            </a:solidFill>
            <a:ln w="17318">
              <a:solidFill>
                <a:srgbClr val="15161A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6661276" y="5517329"/>
              <a:ext cx="361923" cy="361923"/>
            </a:xfrm>
            <a:prstGeom prst="ellipse">
              <a:avLst/>
            </a:prstGeom>
            <a:solidFill>
              <a:srgbClr val="FFFFFF"/>
            </a:solidFill>
            <a:ln w="17318">
              <a:solidFill>
                <a:srgbClr val="15161A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6592274" y="5966654"/>
              <a:ext cx="576127" cy="2632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200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Output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6554174" y="6181914"/>
              <a:ext cx="576127" cy="19897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975" b="1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Q × 4</a:t>
              </a:r>
              <a:endParaRPr lang="en-US" sz="9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C24D9EC-75C8-4FFD-AE89-9E1C36063CC1}"/>
              </a:ext>
            </a:extLst>
          </p:cNvPr>
          <p:cNvGrpSpPr/>
          <p:nvPr/>
        </p:nvGrpSpPr>
        <p:grpSpPr>
          <a:xfrm>
            <a:off x="1735899" y="6895095"/>
            <a:ext cx="7215994" cy="1066286"/>
            <a:chOff x="914347" y="8553964"/>
            <a:chExt cx="7215994" cy="1066286"/>
          </a:xfrm>
        </p:grpSpPr>
        <p:sp>
          <p:nvSpPr>
            <p:cNvPr id="35" name="Shape 33"/>
            <p:cNvSpPr/>
            <p:nvPr/>
          </p:nvSpPr>
          <p:spPr>
            <a:xfrm>
              <a:off x="914347" y="8553964"/>
              <a:ext cx="7215994" cy="1066286"/>
            </a:xfrm>
            <a:prstGeom prst="roundRect">
              <a:avLst>
                <a:gd name="adj" fmla="val 10719"/>
              </a:avLst>
            </a:prstGeom>
            <a:solidFill>
              <a:srgbClr val="FBF1F4"/>
            </a:solidFill>
            <a:ln w="8659">
              <a:solidFill>
                <a:srgbClr val="F4DEE6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1189678" y="8810219"/>
              <a:ext cx="6582722" cy="2632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-15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총 파라미터 ~18,180개</a:t>
              </a:r>
              <a:endParaRPr lang="en-US" sz="15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1189678" y="9092451"/>
              <a:ext cx="6582722" cy="3096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25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PyTorch 대비 </a:t>
              </a:r>
              <a:r>
                <a:rPr lang="en-US" sz="1425" b="1" dirty="0">
                  <a:solidFill>
                    <a:srgbClr val="A50034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2~3× 빠름 </a:t>
              </a:r>
              <a:r>
                <a:rPr lang="en-US" sz="1425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— 소형 네트워크에서 NumPy 순수 구현이 오버헤드를 제거한다.</a:t>
              </a:r>
              <a:endParaRPr lang="en-US" sz="14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5C883312-C766-4A12-9C0C-891E2402BF0E}"/>
              </a:ext>
            </a:extLst>
          </p:cNvPr>
          <p:cNvGrpSpPr/>
          <p:nvPr/>
        </p:nvGrpSpPr>
        <p:grpSpPr>
          <a:xfrm>
            <a:off x="10090194" y="2765199"/>
            <a:ext cx="5865898" cy="5455553"/>
            <a:chOff x="9935348" y="2360874"/>
            <a:chExt cx="5865898" cy="5455553"/>
          </a:xfrm>
        </p:grpSpPr>
        <p:sp>
          <p:nvSpPr>
            <p:cNvPr id="38" name="Shape 36"/>
            <p:cNvSpPr/>
            <p:nvPr/>
          </p:nvSpPr>
          <p:spPr>
            <a:xfrm>
              <a:off x="9935348" y="2360874"/>
              <a:ext cx="2968601" cy="507369"/>
            </a:xfrm>
            <a:prstGeom prst="rect">
              <a:avLst/>
            </a:prstGeom>
            <a:solidFill>
              <a:srgbClr val="F7F7F9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9935348" y="2850925"/>
              <a:ext cx="2968601" cy="17318"/>
            </a:xfrm>
            <a:prstGeom prst="rect">
              <a:avLst/>
            </a:prstGeom>
            <a:solidFill>
              <a:srgbClr val="15161A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10090194" y="2484699"/>
              <a:ext cx="2762302" cy="28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50" b="1" kern="0" spc="14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파라미터</a:t>
              </a:r>
              <a:endParaRPr lang="en-US" sz="13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12514384" y="2360874"/>
              <a:ext cx="3266631" cy="507369"/>
            </a:xfrm>
            <a:prstGeom prst="rect">
              <a:avLst/>
            </a:prstGeom>
            <a:solidFill>
              <a:srgbClr val="F7F7F9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12514384" y="2850925"/>
              <a:ext cx="3266631" cy="17318"/>
            </a:xfrm>
            <a:prstGeom prst="rect">
              <a:avLst/>
            </a:prstGeom>
            <a:solidFill>
              <a:srgbClr val="15161A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12671961" y="2484699"/>
              <a:ext cx="3129285" cy="28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50" b="1" kern="0" spc="14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값</a:t>
              </a:r>
              <a:endParaRPr lang="en-US" sz="13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9935348" y="3423236"/>
              <a:ext cx="296860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10090194" y="2992068"/>
              <a:ext cx="2762302" cy="3454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Learning Rate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12514384" y="3423236"/>
              <a:ext cx="326663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12671961" y="2992068"/>
              <a:ext cx="3129285" cy="3454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0.001 </a:t>
              </a:r>
              <a:r>
                <a:rPr lang="en-US" sz="1575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(Adam)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9935348" y="3982560"/>
              <a:ext cx="296860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10090194" y="3555721"/>
              <a:ext cx="2762302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Gamma (γ)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12514384" y="3982560"/>
              <a:ext cx="326663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12671961" y="3555721"/>
              <a:ext cx="3129285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0.99 </a:t>
              </a:r>
              <a:r>
                <a:rPr lang="en-US" sz="1575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— 장기 보상 중시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9935348" y="4541883"/>
              <a:ext cx="296860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10090194" y="4115044"/>
              <a:ext cx="2762302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Epsilon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12514384" y="4541883"/>
              <a:ext cx="326663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55" name="Text 53"/>
            <p:cNvSpPr/>
            <p:nvPr/>
          </p:nvSpPr>
          <p:spPr>
            <a:xfrm>
              <a:off x="12671961" y="4115044"/>
              <a:ext cx="3129285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1.0 → 0.01 </a:t>
              </a:r>
              <a:r>
                <a:rPr lang="en-US" sz="1575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(decay 0.995)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9935348" y="5101206"/>
              <a:ext cx="296860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57" name="Text 55"/>
            <p:cNvSpPr/>
            <p:nvPr/>
          </p:nvSpPr>
          <p:spPr>
            <a:xfrm>
              <a:off x="10090194" y="4674367"/>
              <a:ext cx="2762302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Batch Size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12514384" y="5101206"/>
              <a:ext cx="326663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59" name="Text 57"/>
            <p:cNvSpPr/>
            <p:nvPr/>
          </p:nvSpPr>
          <p:spPr>
            <a:xfrm>
              <a:off x="12671961" y="4674367"/>
              <a:ext cx="3129285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64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0" name="Shape 58"/>
            <p:cNvSpPr/>
            <p:nvPr/>
          </p:nvSpPr>
          <p:spPr>
            <a:xfrm>
              <a:off x="9935348" y="5660529"/>
              <a:ext cx="296860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61" name="Text 59"/>
            <p:cNvSpPr/>
            <p:nvPr/>
          </p:nvSpPr>
          <p:spPr>
            <a:xfrm>
              <a:off x="10090194" y="5233690"/>
              <a:ext cx="2762302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Replay Buffer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12514384" y="5660529"/>
              <a:ext cx="326663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63" name="Text 61"/>
            <p:cNvSpPr/>
            <p:nvPr/>
          </p:nvSpPr>
          <p:spPr>
            <a:xfrm>
              <a:off x="12671961" y="5233690"/>
              <a:ext cx="3129285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10,000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4" name="Shape 62"/>
            <p:cNvSpPr/>
            <p:nvPr/>
          </p:nvSpPr>
          <p:spPr>
            <a:xfrm>
              <a:off x="9935348" y="6219852"/>
              <a:ext cx="296860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65" name="Text 63"/>
            <p:cNvSpPr/>
            <p:nvPr/>
          </p:nvSpPr>
          <p:spPr>
            <a:xfrm>
              <a:off x="10090194" y="5793013"/>
              <a:ext cx="2762302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Target Update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12514384" y="6219852"/>
              <a:ext cx="326663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67" name="Text 65"/>
            <p:cNvSpPr/>
            <p:nvPr/>
          </p:nvSpPr>
          <p:spPr>
            <a:xfrm>
              <a:off x="12671961" y="5793013"/>
              <a:ext cx="3129285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10 </a:t>
              </a:r>
              <a:r>
                <a:rPr lang="en-US" sz="1575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학습 스텝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8" name="Shape 66"/>
            <p:cNvSpPr/>
            <p:nvPr/>
          </p:nvSpPr>
          <p:spPr>
            <a:xfrm>
              <a:off x="9935348" y="6228511"/>
              <a:ext cx="2968601" cy="559323"/>
            </a:xfrm>
            <a:prstGeom prst="rect">
              <a:avLst/>
            </a:prstGeom>
            <a:solidFill>
              <a:srgbClr val="FBF1F4"/>
            </a:solidFill>
            <a:ln/>
          </p:spPr>
        </p:sp>
        <p:sp>
          <p:nvSpPr>
            <p:cNvPr id="69" name="Shape 67"/>
            <p:cNvSpPr/>
            <p:nvPr/>
          </p:nvSpPr>
          <p:spPr>
            <a:xfrm>
              <a:off x="9935348" y="6779175"/>
              <a:ext cx="296860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70" name="Text 68"/>
            <p:cNvSpPr/>
            <p:nvPr/>
          </p:nvSpPr>
          <p:spPr>
            <a:xfrm>
              <a:off x="10090194" y="6352336"/>
              <a:ext cx="2762302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A50034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Episodes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1" name="Shape 69"/>
            <p:cNvSpPr/>
            <p:nvPr/>
          </p:nvSpPr>
          <p:spPr>
            <a:xfrm>
              <a:off x="12514384" y="6228511"/>
              <a:ext cx="3266631" cy="559323"/>
            </a:xfrm>
            <a:prstGeom prst="rect">
              <a:avLst/>
            </a:prstGeom>
            <a:solidFill>
              <a:srgbClr val="FBF1F4"/>
            </a:solidFill>
            <a:ln/>
          </p:spPr>
        </p:sp>
        <p:sp>
          <p:nvSpPr>
            <p:cNvPr id="72" name="Shape 70"/>
            <p:cNvSpPr/>
            <p:nvPr/>
          </p:nvSpPr>
          <p:spPr>
            <a:xfrm>
              <a:off x="12514384" y="6779175"/>
              <a:ext cx="326663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73" name="Text 71"/>
            <p:cNvSpPr/>
            <p:nvPr/>
          </p:nvSpPr>
          <p:spPr>
            <a:xfrm>
              <a:off x="12671961" y="6352336"/>
              <a:ext cx="3129285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highlight>
                    <a:srgbClr val="FBF1F4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1,500 </a:t>
              </a:r>
              <a:r>
                <a:rPr lang="en-US" sz="1575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(7×7 기준)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4" name="Shape 72"/>
            <p:cNvSpPr/>
            <p:nvPr/>
          </p:nvSpPr>
          <p:spPr>
            <a:xfrm>
              <a:off x="9935348" y="7338498"/>
              <a:ext cx="296860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75" name="Text 73"/>
            <p:cNvSpPr/>
            <p:nvPr/>
          </p:nvSpPr>
          <p:spPr>
            <a:xfrm>
              <a:off x="10090194" y="6911659"/>
              <a:ext cx="2762302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Max Step / Episode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6" name="Shape 74"/>
            <p:cNvSpPr/>
            <p:nvPr/>
          </p:nvSpPr>
          <p:spPr>
            <a:xfrm>
              <a:off x="12514384" y="7338498"/>
              <a:ext cx="3266631" cy="9525"/>
            </a:xfrm>
            <a:prstGeom prst="rect">
              <a:avLst/>
            </a:prstGeom>
            <a:solidFill>
              <a:srgbClr val="E5E7EB"/>
            </a:solidFill>
            <a:ln/>
          </p:spPr>
        </p:sp>
        <p:sp>
          <p:nvSpPr>
            <p:cNvPr id="77" name="Text 75"/>
            <p:cNvSpPr/>
            <p:nvPr/>
          </p:nvSpPr>
          <p:spPr>
            <a:xfrm>
              <a:off x="12671961" y="6911659"/>
              <a:ext cx="3129285" cy="34111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150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8" name="Text 76"/>
            <p:cNvSpPr/>
            <p:nvPr/>
          </p:nvSpPr>
          <p:spPr>
            <a:xfrm>
              <a:off x="10090194" y="7470983"/>
              <a:ext cx="2762302" cy="3454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Seeds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9" name="Text 77"/>
            <p:cNvSpPr/>
            <p:nvPr/>
          </p:nvSpPr>
          <p:spPr>
            <a:xfrm>
              <a:off x="12671961" y="7470983"/>
              <a:ext cx="3129285" cy="3454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[0, 1, 42, 123, 777]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1314152"/>
            <a:ext cx="1645930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728581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057221" y="804781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06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639" y="704769"/>
            <a:ext cx="2703807" cy="495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셋업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823643" y="761865"/>
            <a:ext cx="145500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신뢰도 확보 —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5개 랜덤 시드 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반복 · 평균±표준편차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346" y="3476625"/>
            <a:ext cx="929391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평가 지표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346" y="3880084"/>
            <a:ext cx="3873996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9" name="Shape 7"/>
          <p:cNvSpPr/>
          <p:nvPr/>
        </p:nvSpPr>
        <p:spPr>
          <a:xfrm>
            <a:off x="914346" y="4465385"/>
            <a:ext cx="3873996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0" name="Text 8"/>
          <p:cNvSpPr/>
          <p:nvPr/>
        </p:nvSpPr>
        <p:spPr>
          <a:xfrm>
            <a:off x="1085796" y="4051534"/>
            <a:ext cx="3647316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지표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88342" y="3880084"/>
            <a:ext cx="4547917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788342" y="4465385"/>
            <a:ext cx="4547917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3" name="Text 11"/>
          <p:cNvSpPr/>
          <p:nvPr/>
        </p:nvSpPr>
        <p:spPr>
          <a:xfrm>
            <a:off x="4959792" y="4051534"/>
            <a:ext cx="4341454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증명 목표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346" y="5141606"/>
            <a:ext cx="38739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85796" y="4654153"/>
            <a:ext cx="3647316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평균 에피소드 보상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88342" y="5141606"/>
            <a:ext cx="454791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4959792" y="4654153"/>
            <a:ext cx="4341454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&gt; Baseline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346" y="5150265"/>
            <a:ext cx="3873996" cy="663232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346" y="5804838"/>
            <a:ext cx="38739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85796" y="5321715"/>
            <a:ext cx="3647316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A50034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방전 횟수 ★ </a:t>
            </a:r>
            <a:r>
              <a:rPr lang="en-US" sz="1650" b="1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(Dead Count)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88342" y="5150265"/>
            <a:ext cx="4547917" cy="663232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22" name="Shape 20"/>
          <p:cNvSpPr/>
          <p:nvPr/>
        </p:nvSpPr>
        <p:spPr>
          <a:xfrm>
            <a:off x="4788342" y="5804838"/>
            <a:ext cx="454791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4959792" y="5321715"/>
            <a:ext cx="4341454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빈번 / </a:t>
            </a:r>
            <a:r>
              <a:rPr lang="en-US" sz="16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= 0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346" y="6468070"/>
            <a:ext cx="38739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1085796" y="5984947"/>
            <a:ext cx="3647316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에피소드당 작업 완료 수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88342" y="6468070"/>
            <a:ext cx="454791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4959792" y="5984947"/>
            <a:ext cx="4341454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안전성 + 효율 동시 유지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14346" y="7131302"/>
            <a:ext cx="38739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1085796" y="6648179"/>
            <a:ext cx="3647316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충전소 방문 횟수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88342" y="7131302"/>
            <a:ext cx="454791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4959792" y="6648179"/>
            <a:ext cx="4341454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적절한 방문 전략 학습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85796" y="7311411"/>
            <a:ext cx="3647316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학습 곡선 수렴 속도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59792" y="7311411"/>
            <a:ext cx="4341454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풍부한 경험 → 빠른 수렴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717259" y="3476625"/>
            <a:ext cx="157300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학습 진행 모니터링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717259" y="3880084"/>
            <a:ext cx="2449982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36" name="Shape 34"/>
          <p:cNvSpPr/>
          <p:nvPr/>
        </p:nvSpPr>
        <p:spPr>
          <a:xfrm>
            <a:off x="9717259" y="4465385"/>
            <a:ext cx="2449982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7" name="Text 35"/>
          <p:cNvSpPr/>
          <p:nvPr/>
        </p:nvSpPr>
        <p:spPr>
          <a:xfrm>
            <a:off x="9888709" y="4051534"/>
            <a:ext cx="2183282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방법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2167240" y="3880084"/>
            <a:ext cx="5206414" cy="602619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39" name="Shape 37"/>
          <p:cNvSpPr/>
          <p:nvPr/>
        </p:nvSpPr>
        <p:spPr>
          <a:xfrm>
            <a:off x="12167240" y="4465385"/>
            <a:ext cx="5206414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40" name="Text 38"/>
          <p:cNvSpPr/>
          <p:nvPr/>
        </p:nvSpPr>
        <p:spPr>
          <a:xfrm>
            <a:off x="12338690" y="4051534"/>
            <a:ext cx="5019706" cy="28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설명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717259" y="5141606"/>
            <a:ext cx="244998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9888709" y="4654153"/>
            <a:ext cx="2183282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tqdm 진행바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2167240" y="5141606"/>
            <a:ext cx="520641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12338690" y="4654153"/>
            <a:ext cx="5019706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진행률 + 남은 시간 실시간 표시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717259" y="5804838"/>
            <a:ext cx="244998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9888709" y="5321715"/>
            <a:ext cx="2183282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CSV 자동 저장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2167240" y="5804838"/>
            <a:ext cx="520641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12338690" y="5321715"/>
            <a:ext cx="5019706" cy="349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에피소드마다 즉시 기록 — 중단 시 보존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888709" y="5984947"/>
            <a:ext cx="2183282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체크포인트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2338690" y="5984947"/>
            <a:ext cx="5019706" cy="354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150ep마다 + 최고 보상 갱신 시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best_model.pkl</a:t>
            </a:r>
            <a:endParaRPr lang="en-US" sz="16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717259" y="6719996"/>
            <a:ext cx="7656395" cy="555805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52" name="Shape 50"/>
          <p:cNvSpPr/>
          <p:nvPr/>
        </p:nvSpPr>
        <p:spPr>
          <a:xfrm>
            <a:off x="9717259" y="6719996"/>
            <a:ext cx="25977" cy="555805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53" name="Text 51"/>
          <p:cNvSpPr/>
          <p:nvPr/>
        </p:nvSpPr>
        <p:spPr>
          <a:xfrm>
            <a:off x="9952786" y="6872396"/>
            <a:ext cx="7441009" cy="28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SEEDS = [0, 1, 42, 123, 777] </a:t>
            </a: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→ 평균 ± 표준편차 + shaded 신뢰구간으로 결과의 재현성을 확보한다.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C0E46CB0-AA38-4290-961C-837E1C685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471" y="1690705"/>
            <a:ext cx="6813231" cy="357427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2F011F0-5CF2-4B31-867A-EB0921654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540" y="1653931"/>
            <a:ext cx="6988515" cy="363524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BD3240C-37B5-4626-AAE5-65900F9C5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3756" y="5914067"/>
            <a:ext cx="6676052" cy="371907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0599CB4C-42A5-4314-A88C-3E09AC84A7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951" y="5926757"/>
            <a:ext cx="6759883" cy="369621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38173" y="1180884"/>
            <a:ext cx="16611653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838173" y="595312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981048" y="671512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07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97467" y="571500"/>
            <a:ext cx="3768638" cy="43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결과 ① — 학습 곡선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186C8530-FEFC-4CFC-AB3E-1FCDF3042859}"/>
              </a:ext>
            </a:extLst>
          </p:cNvPr>
          <p:cNvSpPr/>
          <p:nvPr/>
        </p:nvSpPr>
        <p:spPr>
          <a:xfrm>
            <a:off x="15183579" y="1577407"/>
            <a:ext cx="1240470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말기 방전율 −70%</a:t>
            </a:r>
            <a:endParaRPr lang="en-US" sz="1050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C0F8D34-9C73-4751-82D8-EEC711AA33A6}"/>
              </a:ext>
            </a:extLst>
          </p:cNvPr>
          <p:cNvSpPr/>
          <p:nvPr/>
        </p:nvSpPr>
        <p:spPr>
          <a:xfrm>
            <a:off x="7702852" y="5820788"/>
            <a:ext cx="583569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효율 유지</a:t>
            </a:r>
            <a:endParaRPr lang="en-US" sz="1050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5038491A-28D9-4C9A-A525-E2EB1A72A757}"/>
              </a:ext>
            </a:extLst>
          </p:cNvPr>
          <p:cNvSpPr/>
          <p:nvPr/>
        </p:nvSpPr>
        <p:spPr>
          <a:xfrm>
            <a:off x="15546764" y="5862353"/>
            <a:ext cx="735779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1.0 → 0.01</a:t>
            </a:r>
            <a:endParaRPr lang="en-US" sz="1050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8C994EB2-F2E6-4B02-BC6B-7E3CC8CDA42C}"/>
              </a:ext>
            </a:extLst>
          </p:cNvPr>
          <p:cNvSpPr/>
          <p:nvPr/>
        </p:nvSpPr>
        <p:spPr>
          <a:xfrm>
            <a:off x="7071686" y="1577407"/>
            <a:ext cx="1214735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+147.8p</a:t>
            </a:r>
            <a:endParaRPr lang="en-US" sz="1050" dirty="0">
              <a:solidFill>
                <a:srgbClr val="C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1314152"/>
            <a:ext cx="1645930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728581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057221" y="804781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08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640" y="704769"/>
            <a:ext cx="4511273" cy="43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결과 ② — 최종 성능 비교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29637" y="761865"/>
            <a:ext cx="114440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5 seeds × 1,500 ep ·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전 지표 우위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F52C340-139E-4615-9776-E604DB25D3BC}"/>
              </a:ext>
            </a:extLst>
          </p:cNvPr>
          <p:cNvGrpSpPr/>
          <p:nvPr/>
        </p:nvGrpSpPr>
        <p:grpSpPr>
          <a:xfrm>
            <a:off x="1117546" y="1820339"/>
            <a:ext cx="3839702" cy="1668363"/>
            <a:chOff x="1117546" y="1820339"/>
            <a:chExt cx="3839702" cy="1668363"/>
          </a:xfrm>
        </p:grpSpPr>
        <p:sp>
          <p:nvSpPr>
            <p:cNvPr id="7" name="Shape 5"/>
            <p:cNvSpPr/>
            <p:nvPr/>
          </p:nvSpPr>
          <p:spPr>
            <a:xfrm>
              <a:off x="1117546" y="1820339"/>
              <a:ext cx="3602524" cy="1668363"/>
            </a:xfrm>
            <a:prstGeom prst="roundRect">
              <a:avLst>
                <a:gd name="adj" fmla="val 7993"/>
              </a:avLst>
            </a:prstGeom>
            <a:solidFill>
              <a:srgbClr val="A50034"/>
            </a:solidFill>
            <a:ln w="8659">
              <a:solidFill>
                <a:srgbClr val="A50034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1354724" y="2076594"/>
              <a:ext cx="3602524" cy="2632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kern="0" spc="-12" dirty="0">
                  <a:solidFill>
                    <a:srgbClr val="FFFFFF">
                      <a:alpha val="82000"/>
                    </a:srgb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말기 방전율 (Proposed)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354724" y="2434999"/>
              <a:ext cx="3602524" cy="53342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900" b="1" kern="0" spc="-78" dirty="0">
                  <a:solidFill>
                    <a:srgbClr val="FFFFF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0.6</a:t>
              </a:r>
              <a:r>
                <a:rPr lang="en-US" sz="1800" b="1" kern="0" spc="-78" dirty="0">
                  <a:solidFill>
                    <a:srgbClr val="FFFFF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회/100ep</a:t>
              </a:r>
              <a:endParaRPr lang="en-US" sz="39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354724" y="3015970"/>
              <a:ext cx="3602524" cy="2545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125" dirty="0">
                  <a:solidFill>
                    <a:srgbClr val="FFFFFF">
                      <a:alpha val="72000"/>
                    </a:srgb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Baseline 2.0회 대비 −70%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C5DC382-1E50-4AE8-A3CB-1E289E3A628E}"/>
              </a:ext>
            </a:extLst>
          </p:cNvPr>
          <p:cNvGrpSpPr/>
          <p:nvPr/>
        </p:nvGrpSpPr>
        <p:grpSpPr>
          <a:xfrm>
            <a:off x="5212265" y="1820339"/>
            <a:ext cx="3839702" cy="1668363"/>
            <a:chOff x="5076798" y="1820339"/>
            <a:chExt cx="3839702" cy="1668363"/>
          </a:xfrm>
        </p:grpSpPr>
        <p:sp>
          <p:nvSpPr>
            <p:cNvPr id="11" name="Shape 9"/>
            <p:cNvSpPr/>
            <p:nvPr/>
          </p:nvSpPr>
          <p:spPr>
            <a:xfrm>
              <a:off x="5076798" y="1820339"/>
              <a:ext cx="3602524" cy="1668363"/>
            </a:xfrm>
            <a:prstGeom prst="roundRect">
              <a:avLst>
                <a:gd name="adj" fmla="val 7993"/>
              </a:avLst>
            </a:prstGeom>
            <a:solidFill>
              <a:srgbClr val="FCFCFD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313976" y="2076594"/>
              <a:ext cx="3602524" cy="2632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kern="0" spc="-12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평균 보상 개선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313976" y="2434999"/>
              <a:ext cx="3602524" cy="53342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900" b="1" kern="0" spc="-78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+148</a:t>
              </a:r>
              <a:r>
                <a:rPr lang="en-US" sz="1800" b="1" kern="0" spc="-78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p</a:t>
              </a:r>
              <a:endParaRPr lang="en-US" sz="39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313976" y="3015970"/>
              <a:ext cx="3602524" cy="2545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125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−20.5 → 127.3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04E9F5EC-0E0C-4713-B759-E408ED76539E}"/>
              </a:ext>
            </a:extLst>
          </p:cNvPr>
          <p:cNvGrpSpPr/>
          <p:nvPr/>
        </p:nvGrpSpPr>
        <p:grpSpPr>
          <a:xfrm>
            <a:off x="9306984" y="1820339"/>
            <a:ext cx="3839702" cy="1668363"/>
            <a:chOff x="9239249" y="1820339"/>
            <a:chExt cx="3839702" cy="1668363"/>
          </a:xfrm>
        </p:grpSpPr>
        <p:sp>
          <p:nvSpPr>
            <p:cNvPr id="15" name="Shape 13"/>
            <p:cNvSpPr/>
            <p:nvPr/>
          </p:nvSpPr>
          <p:spPr>
            <a:xfrm>
              <a:off x="9239249" y="1820339"/>
              <a:ext cx="3602524" cy="1668363"/>
            </a:xfrm>
            <a:prstGeom prst="roundRect">
              <a:avLst>
                <a:gd name="adj" fmla="val 7993"/>
              </a:avLst>
            </a:prstGeom>
            <a:solidFill>
              <a:srgbClr val="FCFCFD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9476427" y="2076594"/>
              <a:ext cx="3602524" cy="2632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kern="0" spc="-12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표준편차 (안정성)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9476427" y="2434999"/>
              <a:ext cx="3602524" cy="53342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900" b="1" kern="0" spc="-78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55</a:t>
              </a:r>
              <a:r>
                <a:rPr lang="en-US" sz="1800" b="1" kern="0" spc="-78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%↓</a:t>
              </a:r>
              <a:endParaRPr lang="en-US" sz="39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9476427" y="3015970"/>
              <a:ext cx="3602524" cy="2545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125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106.7 → 47.5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21CF622-3C6F-415B-AF0B-5D146DAB8049}"/>
              </a:ext>
            </a:extLst>
          </p:cNvPr>
          <p:cNvGrpSpPr/>
          <p:nvPr/>
        </p:nvGrpSpPr>
        <p:grpSpPr>
          <a:xfrm>
            <a:off x="13401702" y="1820339"/>
            <a:ext cx="3839701" cy="1668363"/>
            <a:chOff x="13401702" y="1820339"/>
            <a:chExt cx="3839701" cy="1668363"/>
          </a:xfrm>
        </p:grpSpPr>
        <p:sp>
          <p:nvSpPr>
            <p:cNvPr id="19" name="Shape 17"/>
            <p:cNvSpPr/>
            <p:nvPr/>
          </p:nvSpPr>
          <p:spPr>
            <a:xfrm>
              <a:off x="13401702" y="1820339"/>
              <a:ext cx="3602524" cy="1668363"/>
            </a:xfrm>
            <a:prstGeom prst="roundRect">
              <a:avLst>
                <a:gd name="adj" fmla="val 7993"/>
              </a:avLst>
            </a:prstGeom>
            <a:solidFill>
              <a:srgbClr val="FCFCFD"/>
            </a:solidFill>
            <a:ln w="8659">
              <a:solidFill>
                <a:srgbClr val="E5E7EB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13638879" y="2076594"/>
              <a:ext cx="3602524" cy="2632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kern="0" spc="-12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총 방전 (5 seeds)</a:t>
              </a:r>
              <a:endParaRPr 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3638879" y="2434999"/>
              <a:ext cx="3602524" cy="53342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900" b="1" kern="0" spc="-78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56</a:t>
              </a:r>
              <a:r>
                <a:rPr lang="en-US" sz="1800" b="1" kern="0" spc="-78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JetBrains Mono" pitchFamily="34" charset="-120"/>
                </a:rPr>
                <a:t>회↓</a:t>
              </a:r>
              <a:endParaRPr lang="en-US" sz="39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3638879" y="3015970"/>
              <a:ext cx="3602524" cy="2545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125" dirty="0">
                  <a:solidFill>
                    <a:srgbClr val="9AA0A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471 → 415회</a:t>
              </a:r>
              <a:endParaRPr lang="en-US" sz="112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3" name="Shape 21"/>
          <p:cNvSpPr/>
          <p:nvPr/>
        </p:nvSpPr>
        <p:spPr>
          <a:xfrm>
            <a:off x="1181046" y="4381789"/>
            <a:ext cx="4114827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24" name="Text 22"/>
          <p:cNvSpPr/>
          <p:nvPr/>
        </p:nvSpPr>
        <p:spPr>
          <a:xfrm>
            <a:off x="1466796" y="4082211"/>
            <a:ext cx="3666772" cy="28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지표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173" y="4381789"/>
            <a:ext cx="4114827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26" name="Text 24"/>
          <p:cNvSpPr/>
          <p:nvPr/>
        </p:nvSpPr>
        <p:spPr>
          <a:xfrm>
            <a:off x="5191478" y="4082211"/>
            <a:ext cx="3666772" cy="28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kern="0" spc="14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143999" y="4082211"/>
            <a:ext cx="4114827" cy="431196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3999" y="4381789"/>
            <a:ext cx="4114827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29" name="Text 27"/>
          <p:cNvSpPr/>
          <p:nvPr/>
        </p:nvSpPr>
        <p:spPr>
          <a:xfrm>
            <a:off x="9306305" y="4082211"/>
            <a:ext cx="3666772" cy="28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kern="0" spc="14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2877827" y="4381789"/>
            <a:ext cx="4114827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1" name="Text 29"/>
          <p:cNvSpPr/>
          <p:nvPr/>
        </p:nvSpPr>
        <p:spPr>
          <a:xfrm>
            <a:off x="13040132" y="4082211"/>
            <a:ext cx="3666772" cy="28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kern="0" spc="14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개선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181046" y="5244991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1466796" y="4646757"/>
            <a:ext cx="3666772" cy="38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평균 보상 </a:t>
            </a:r>
            <a:r>
              <a:rPr lang="en-US" sz="1275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최종 200ep</a:t>
            </a:r>
            <a:endParaRPr lang="en-US" sz="17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9173" y="5244991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5191478" y="4646757"/>
            <a:ext cx="3666772" cy="38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−20.5 ±106.7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143999" y="4399107"/>
            <a:ext cx="4114827" cy="854544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3999" y="5244991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9306305" y="4646757"/>
            <a:ext cx="3666772" cy="38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127.3 ±47.5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2877827" y="5244991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8"/>
          <p:cNvSpPr/>
          <p:nvPr/>
        </p:nvSpPr>
        <p:spPr>
          <a:xfrm>
            <a:off x="13040132" y="4646757"/>
            <a:ext cx="3666772" cy="38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+147.8p</a:t>
            </a:r>
            <a:endParaRPr lang="en-US" sz="2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81046" y="6095206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1466796" y="5501301"/>
            <a:ext cx="3666772" cy="38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표준편차 </a:t>
            </a:r>
            <a:r>
              <a:rPr lang="en-US" sz="1275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안정성</a:t>
            </a:r>
            <a:endParaRPr lang="en-US" sz="17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029173" y="6095206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5191478" y="5501301"/>
            <a:ext cx="3666772" cy="38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106.7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143999" y="5253651"/>
            <a:ext cx="4114827" cy="850214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46" name="Shape 44"/>
          <p:cNvSpPr/>
          <p:nvPr/>
        </p:nvSpPr>
        <p:spPr>
          <a:xfrm>
            <a:off x="9143999" y="6095206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9306305" y="5501301"/>
            <a:ext cx="3666772" cy="38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47.5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877827" y="6095206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13040132" y="5501301"/>
            <a:ext cx="3666772" cy="38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55%↓</a:t>
            </a:r>
            <a:endParaRPr lang="en-US" sz="2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181046" y="6949750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1" name="Text 49"/>
          <p:cNvSpPr/>
          <p:nvPr/>
        </p:nvSpPr>
        <p:spPr>
          <a:xfrm>
            <a:off x="1466796" y="6351515"/>
            <a:ext cx="3666772" cy="38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총 방전 횟수 </a:t>
            </a:r>
            <a:r>
              <a:rPr lang="en-US" sz="1275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5 seeds</a:t>
            </a:r>
            <a:endParaRPr lang="en-US" sz="17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029173" y="6949750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5191478" y="6351515"/>
            <a:ext cx="3666772" cy="38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471회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143999" y="6103865"/>
            <a:ext cx="4114827" cy="854544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55" name="Shape 53"/>
          <p:cNvSpPr/>
          <p:nvPr/>
        </p:nvSpPr>
        <p:spPr>
          <a:xfrm>
            <a:off x="9143999" y="6949750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54"/>
          <p:cNvSpPr/>
          <p:nvPr/>
        </p:nvSpPr>
        <p:spPr>
          <a:xfrm>
            <a:off x="9306305" y="6351515"/>
            <a:ext cx="3666772" cy="38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415회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2877827" y="6949750"/>
            <a:ext cx="411482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13040132" y="6351515"/>
            <a:ext cx="3666772" cy="388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56회↓</a:t>
            </a:r>
            <a:endParaRPr lang="en-US" sz="2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181046" y="6958409"/>
            <a:ext cx="4114827" cy="17318"/>
          </a:xfrm>
          <a:prstGeom prst="rect">
            <a:avLst/>
          </a:prstGeom>
          <a:solidFill>
            <a:srgbClr val="F4DEE6"/>
          </a:solidFill>
          <a:ln/>
        </p:spPr>
      </p:sp>
      <p:sp>
        <p:nvSpPr>
          <p:cNvPr id="60" name="Text 58"/>
          <p:cNvSpPr/>
          <p:nvPr/>
        </p:nvSpPr>
        <p:spPr>
          <a:xfrm>
            <a:off x="1466796" y="7223378"/>
            <a:ext cx="3666772" cy="375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★ 말기 방전율 </a:t>
            </a:r>
            <a:r>
              <a:rPr lang="en-US" sz="1275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최종 200ep</a:t>
            </a:r>
            <a:endParaRPr lang="en-US" sz="17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029173" y="6958409"/>
            <a:ext cx="4114827" cy="17318"/>
          </a:xfrm>
          <a:prstGeom prst="rect">
            <a:avLst/>
          </a:prstGeom>
          <a:solidFill>
            <a:srgbClr val="F4DEE6"/>
          </a:solidFill>
          <a:ln/>
        </p:spPr>
      </p:sp>
      <p:sp>
        <p:nvSpPr>
          <p:cNvPr id="62" name="Text 60"/>
          <p:cNvSpPr/>
          <p:nvPr/>
        </p:nvSpPr>
        <p:spPr>
          <a:xfrm>
            <a:off x="5191478" y="7223378"/>
            <a:ext cx="3666772" cy="375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2.0회/100ep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9143999" y="6958409"/>
            <a:ext cx="4114827" cy="773753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64" name="Shape 62"/>
          <p:cNvSpPr/>
          <p:nvPr/>
        </p:nvSpPr>
        <p:spPr>
          <a:xfrm>
            <a:off x="9143999" y="6958409"/>
            <a:ext cx="4114827" cy="17318"/>
          </a:xfrm>
          <a:prstGeom prst="rect">
            <a:avLst/>
          </a:prstGeom>
          <a:solidFill>
            <a:srgbClr val="F4DEE6"/>
          </a:solidFill>
          <a:ln/>
        </p:spPr>
      </p:sp>
      <p:sp>
        <p:nvSpPr>
          <p:cNvPr id="65" name="Text 63"/>
          <p:cNvSpPr/>
          <p:nvPr/>
        </p:nvSpPr>
        <p:spPr>
          <a:xfrm>
            <a:off x="9306305" y="7223378"/>
            <a:ext cx="3666772" cy="375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0.6회/100ep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2877827" y="6958409"/>
            <a:ext cx="4114827" cy="17318"/>
          </a:xfrm>
          <a:prstGeom prst="rect">
            <a:avLst/>
          </a:prstGeom>
          <a:solidFill>
            <a:srgbClr val="F4DEE6"/>
          </a:solidFill>
          <a:ln/>
        </p:spPr>
      </p:sp>
      <p:sp>
        <p:nvSpPr>
          <p:cNvPr id="67" name="Text 65"/>
          <p:cNvSpPr/>
          <p:nvPr/>
        </p:nvSpPr>
        <p:spPr>
          <a:xfrm>
            <a:off x="13040132" y="7223378"/>
            <a:ext cx="3666772" cy="375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−70%</a:t>
            </a:r>
            <a:endParaRPr lang="en-US" sz="2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231233" y="8351189"/>
            <a:ext cx="1908545" cy="280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13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하이퍼파라미터 민감도 분석</a:t>
            </a:r>
            <a:endParaRPr lang="en-US" sz="12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3149221" y="8381496"/>
            <a:ext cx="37385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3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계획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59945" y="8726912"/>
            <a:ext cx="5002726" cy="766194"/>
          </a:xfrm>
          <a:prstGeom prst="roundRect">
            <a:avLst>
              <a:gd name="adj" fmla="val 14918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78046" y="9010363"/>
            <a:ext cx="53350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Exp-1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906777" y="8887917"/>
            <a:ext cx="4436438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경고 임계값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906777" y="9141602"/>
            <a:ext cx="44364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20 / 40* / 60%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527322" y="8726912"/>
            <a:ext cx="5002726" cy="766194"/>
          </a:xfrm>
          <a:prstGeom prst="roundRect">
            <a:avLst>
              <a:gd name="adj" fmla="val 14918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45422" y="9010363"/>
            <a:ext cx="53350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Exp-2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7450354" y="8887917"/>
            <a:ext cx="4436438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방전 패널티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450354" y="9141602"/>
            <a:ext cx="44364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−100 / −200* / −500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2001500" y="8726912"/>
            <a:ext cx="5002726" cy="766194"/>
          </a:xfrm>
          <a:prstGeom prst="roundRect">
            <a:avLst>
              <a:gd name="adj" fmla="val 14918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2365200" y="9010363"/>
            <a:ext cx="53350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Exp-3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2993931" y="8887917"/>
            <a:ext cx="4436438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학습률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2993931" y="9141602"/>
            <a:ext cx="44364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0.0001 / 0.001* / 0.01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73" y="1180884"/>
            <a:ext cx="16611653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838173" y="595312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981048" y="671512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09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97467" y="571500"/>
            <a:ext cx="7365448" cy="4380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조건 최적화 과정 ① — Step 0→5 타임라인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703069" y="628596"/>
            <a:ext cx="87467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의미 있는 결과를 위한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6단계 반복 수정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81048" y="3959234"/>
            <a:ext cx="248285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981048" y="3311561"/>
            <a:ext cx="457173" cy="457173"/>
          </a:xfrm>
          <a:prstGeom prst="ellipse">
            <a:avLst/>
          </a:prstGeom>
          <a:solidFill>
            <a:srgbClr val="F7F7F9"/>
          </a:solidFill>
          <a:ln w="17318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266" y="3328879"/>
            <a:ext cx="498737" cy="460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</a:t>
            </a:r>
            <a:endParaRPr lang="en-US" sz="14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62019" y="3354992"/>
            <a:ext cx="707367" cy="245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초기 설계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62019" y="3579722"/>
            <a:ext cx="1066854" cy="17502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8" b="1" kern="0" spc="38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10×10 PyTorch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81048" y="4177335"/>
            <a:ext cx="654573" cy="259773"/>
          </a:xfrm>
          <a:prstGeom prst="roundRect">
            <a:avLst>
              <a:gd name="adj" fmla="val 50000"/>
            </a:avLst>
          </a:prstGeom>
          <a:solidFill>
            <a:srgbClr val="FBF1F4"/>
          </a:solidFill>
          <a:ln/>
        </p:spPr>
      </p:sp>
      <p:sp>
        <p:nvSpPr>
          <p:cNvPr id="13" name="Text 11"/>
          <p:cNvSpPr/>
          <p:nvPr/>
        </p:nvSpPr>
        <p:spPr>
          <a:xfrm>
            <a:off x="1085823" y="4224960"/>
            <a:ext cx="521223" cy="2026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✕ 실패</a:t>
            </a:r>
            <a:endParaRPr 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81048" y="4570376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2582" y="4702833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변경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32582" y="4921881"/>
            <a:ext cx="1803824" cy="25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매 스텝 학습 · 랜덤 시작/목표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81048" y="5399484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BF1F4"/>
          </a:solidFill>
          <a:ln w="8659">
            <a:solidFill>
              <a:srgbClr val="F4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2582" y="5531941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결과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2582" y="5750989"/>
            <a:ext cx="1326221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⏱ 97분+ · 완료 불가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81048" y="6228592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2582" y="6361049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진행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32582" y="6588756"/>
            <a:ext cx="1003805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환경 경량화 필수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49657" y="3959234"/>
            <a:ext cx="248285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3749657" y="3311561"/>
            <a:ext cx="457173" cy="457173"/>
          </a:xfrm>
          <a:prstGeom prst="ellipse">
            <a:avLst/>
          </a:prstGeom>
          <a:solidFill>
            <a:srgbClr val="F7F7F9"/>
          </a:solidFill>
          <a:ln w="17318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8875" y="3328879"/>
            <a:ext cx="498737" cy="460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</a:t>
            </a:r>
            <a:endParaRPr lang="en-US" sz="14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30628" y="3354992"/>
            <a:ext cx="520790" cy="245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경량화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30628" y="3579722"/>
            <a:ext cx="762027" cy="17502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8" b="1" kern="0" spc="38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7×7 NumPy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49657" y="4177335"/>
            <a:ext cx="987272" cy="277091"/>
          </a:xfrm>
          <a:prstGeom prst="roundRect">
            <a:avLst>
              <a:gd name="adj" fmla="val 50000"/>
            </a:avLst>
          </a:prstGeom>
          <a:solidFill>
            <a:srgbClr val="1E8A47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854432" y="4224960"/>
            <a:ext cx="853922" cy="2199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1E8A4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✓ 속도 해결</a:t>
            </a:r>
            <a:endParaRPr 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49657" y="4587694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01191" y="4720151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변경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901191" y="4939200"/>
            <a:ext cx="1985529" cy="25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4스텝마다 학습 · 시작(3,3) 고정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749657" y="5416803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BF1F4"/>
          </a:solidFill>
          <a:ln w="8659">
            <a:solidFill>
              <a:srgbClr val="F4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01191" y="5549260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결과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901191" y="5768307"/>
            <a:ext cx="1481949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✅ 55 ep/s · 9분 완료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749657" y="6245910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01191" y="6378367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진행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01191" y="6606074"/>
            <a:ext cx="1003805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보상 설계 단계로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518266" y="3959234"/>
            <a:ext cx="248285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Shape 38"/>
          <p:cNvSpPr/>
          <p:nvPr/>
        </p:nvSpPr>
        <p:spPr>
          <a:xfrm>
            <a:off x="6518266" y="3311561"/>
            <a:ext cx="457173" cy="457173"/>
          </a:xfrm>
          <a:prstGeom prst="ellipse">
            <a:avLst/>
          </a:prstGeom>
          <a:solidFill>
            <a:srgbClr val="F7F7F9"/>
          </a:solidFill>
          <a:ln w="17318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7484" y="3328879"/>
            <a:ext cx="498737" cy="460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2</a:t>
            </a:r>
            <a:endParaRPr lang="en-US" sz="14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99236" y="3354992"/>
            <a:ext cx="830353" cy="245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DRAIN=1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99236" y="3579722"/>
            <a:ext cx="830353" cy="17502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8" b="1" kern="0" spc="38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WARN=20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518266" y="4177335"/>
            <a:ext cx="683392" cy="259773"/>
          </a:xfrm>
          <a:prstGeom prst="roundRect">
            <a:avLst>
              <a:gd name="adj" fmla="val 50000"/>
            </a:avLst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623041" y="4224960"/>
            <a:ext cx="550042" cy="2026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B8860B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△ 미미</a:t>
            </a:r>
            <a:endParaRPr 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18266" y="4570376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9800" y="4702833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변경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669800" y="4921881"/>
            <a:ext cx="2237320" cy="25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스텝당 −1 (100스텝) · WARN 20%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518266" y="5399484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BF1F4"/>
          </a:solidFill>
          <a:ln w="8659">
            <a:solidFill>
              <a:srgbClr val="F4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9800" y="5531941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결과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669800" y="5750989"/>
            <a:ext cx="1884597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발동율 0% · −23.1 vs −70.4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518266" y="6228592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69800" y="6361049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진행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669800" y="6588756"/>
            <a:ext cx="1003805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압박 강화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286874" y="3959234"/>
            <a:ext cx="248285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Shape 54"/>
          <p:cNvSpPr/>
          <p:nvPr/>
        </p:nvSpPr>
        <p:spPr>
          <a:xfrm>
            <a:off x="9286874" y="3311561"/>
            <a:ext cx="457173" cy="457173"/>
          </a:xfrm>
          <a:prstGeom prst="ellipse">
            <a:avLst/>
          </a:prstGeom>
          <a:solidFill>
            <a:srgbClr val="F7F7F9"/>
          </a:solidFill>
          <a:ln w="17318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6093" y="3328879"/>
            <a:ext cx="498737" cy="460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3</a:t>
            </a:r>
            <a:endParaRPr lang="en-US" sz="14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9867845" y="3354992"/>
            <a:ext cx="830353" cy="245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DRAIN=2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867845" y="3579722"/>
            <a:ext cx="830353" cy="17502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8" b="1" kern="0" spc="38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WASTE=−10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9286874" y="4177335"/>
            <a:ext cx="787030" cy="259773"/>
          </a:xfrm>
          <a:prstGeom prst="roundRect">
            <a:avLst>
              <a:gd name="adj" fmla="val 50000"/>
            </a:avLst>
          </a:prstGeom>
          <a:solidFill>
            <a:srgbClr val="FBF1F4"/>
          </a:solidFill>
          <a:ln/>
        </p:spPr>
      </p:sp>
      <p:sp>
        <p:nvSpPr>
          <p:cNvPr id="61" name="Text 59"/>
          <p:cNvSpPr/>
          <p:nvPr/>
        </p:nvSpPr>
        <p:spPr>
          <a:xfrm>
            <a:off x="9391649" y="4224960"/>
            <a:ext cx="653680" cy="2026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✕ 역효과</a:t>
            </a:r>
            <a:endParaRPr 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286874" y="4570376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38409" y="4702833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변경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438409" y="4921881"/>
            <a:ext cx="1939393" cy="25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스텝당 −2 (50스텝) · 낭비 −10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9286874" y="5399484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BF1F4"/>
          </a:solidFill>
          <a:ln w="8659">
            <a:solidFill>
              <a:srgbClr val="F4DE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38409" y="5531941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결과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9438409" y="5750989"/>
            <a:ext cx="1195929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총방전 277 &gt; 265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9286874" y="6228592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38409" y="6361049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진행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9438409" y="6588756"/>
            <a:ext cx="1003805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낭비 패널티 제거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2055484" y="3959234"/>
            <a:ext cx="248285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Shape 70"/>
          <p:cNvSpPr/>
          <p:nvPr/>
        </p:nvSpPr>
        <p:spPr>
          <a:xfrm>
            <a:off x="12055484" y="3311561"/>
            <a:ext cx="457173" cy="457173"/>
          </a:xfrm>
          <a:prstGeom prst="ellipse">
            <a:avLst/>
          </a:prstGeom>
          <a:solidFill>
            <a:srgbClr val="F7F7F9"/>
          </a:solidFill>
          <a:ln w="17318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034702" y="3328879"/>
            <a:ext cx="498737" cy="460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</a:t>
            </a:r>
            <a:endParaRPr lang="en-US" sz="14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2636454" y="3354992"/>
            <a:ext cx="1021124" cy="245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WASTE 제거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12636454" y="3579722"/>
            <a:ext cx="1021123" cy="17502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8" b="1" kern="0" spc="38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긍정 보상만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2055484" y="4177335"/>
            <a:ext cx="787030" cy="259773"/>
          </a:xfrm>
          <a:prstGeom prst="roundRect">
            <a:avLst>
              <a:gd name="adj" fmla="val 50000"/>
            </a:avLst>
          </a:prstGeom>
          <a:solidFill>
            <a:srgbClr val="FBF1F4"/>
          </a:solidFill>
          <a:ln/>
        </p:spPr>
      </p:sp>
      <p:sp>
        <p:nvSpPr>
          <p:cNvPr id="77" name="Text 75"/>
          <p:cNvSpPr/>
          <p:nvPr/>
        </p:nvSpPr>
        <p:spPr>
          <a:xfrm>
            <a:off x="12160259" y="4224960"/>
            <a:ext cx="653680" cy="2026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✕ 미해결</a:t>
            </a:r>
            <a:endParaRPr 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2055484" y="4570376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2207018" y="4702833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변경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2207018" y="4921881"/>
            <a:ext cx="1432430" cy="25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낭비 패널티(−10) 삭제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2055484" y="5399484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BF1F4"/>
          </a:solidFill>
          <a:ln w="8659">
            <a:solidFill>
              <a:srgbClr val="F4DE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207018" y="5531941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결과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2207018" y="5750989"/>
            <a:ext cx="1195929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총방전 236 &gt; 224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12055484" y="6228592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2207018" y="6361049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진행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12207018" y="6588756"/>
            <a:ext cx="1127062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압박 최대화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14824093" y="3959234"/>
            <a:ext cx="248285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8" name="Shape 86"/>
          <p:cNvSpPr/>
          <p:nvPr/>
        </p:nvSpPr>
        <p:spPr>
          <a:xfrm>
            <a:off x="14824093" y="3311561"/>
            <a:ext cx="457173" cy="457173"/>
          </a:xfrm>
          <a:prstGeom prst="ellipse">
            <a:avLst/>
          </a:prstGeom>
          <a:solidFill>
            <a:srgbClr val="A50034"/>
          </a:solidFill>
          <a:ln w="17318">
            <a:solidFill>
              <a:srgbClr val="A5003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4803311" y="3328879"/>
            <a:ext cx="498737" cy="460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5</a:t>
            </a:r>
            <a:endParaRPr lang="en-US" sz="14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15405063" y="3354992"/>
            <a:ext cx="1034247" cy="245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DRAIN=3 ★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15405063" y="3579722"/>
            <a:ext cx="1034247" cy="17502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8" b="1" kern="0" spc="38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WARN=40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824093" y="4177335"/>
            <a:ext cx="1024885" cy="259773"/>
          </a:xfrm>
          <a:prstGeom prst="roundRect">
            <a:avLst>
              <a:gd name="adj" fmla="val 50000"/>
            </a:avLst>
          </a:prstGeom>
          <a:solidFill>
            <a:srgbClr val="A50034"/>
          </a:solidFill>
          <a:ln/>
        </p:spPr>
      </p:sp>
      <p:sp>
        <p:nvSpPr>
          <p:cNvPr id="93" name="Text 91"/>
          <p:cNvSpPr/>
          <p:nvPr/>
        </p:nvSpPr>
        <p:spPr>
          <a:xfrm>
            <a:off x="14928868" y="4224960"/>
            <a:ext cx="891535" cy="20262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kern="0" spc="20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★ 최종 채택</a:t>
            </a:r>
            <a:endParaRPr lang="en-US" sz="9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4824093" y="4570376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4975627" y="4702833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변경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14975627" y="4921881"/>
            <a:ext cx="2010018" cy="25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스텝당 −3 (33스텝) → 충전 필수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14824093" y="5399484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A50034"/>
          </a:solidFill>
          <a:ln w="8659">
            <a:solidFill>
              <a:srgbClr val="A5003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4975627" y="5531941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FFFFFF">
                    <a:alpha val="72000"/>
                  </a:srgb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결과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4975627" y="5750989"/>
            <a:ext cx="1883650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471→415 · 70%↓ · +148p</a:t>
            </a:r>
            <a:endParaRPr lang="en-US" sz="1163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14824093" y="6228592"/>
            <a:ext cx="2482859" cy="705310"/>
          </a:xfrm>
          <a:prstGeom prst="roundRect">
            <a:avLst>
              <a:gd name="adj" fmla="val 14855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4975627" y="6361049"/>
            <a:ext cx="2255991" cy="20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54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진행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14975627" y="6588756"/>
            <a:ext cx="1373305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최종 채택 ✓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838173" y="7446277"/>
            <a:ext cx="16611653" cy="555805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38173" y="7446277"/>
            <a:ext cx="25977" cy="555805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105" name="Text 103"/>
          <p:cNvSpPr/>
          <p:nvPr/>
        </p:nvSpPr>
        <p:spPr>
          <a:xfrm>
            <a:off x="1073700" y="7598677"/>
            <a:ext cx="16664926" cy="28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핵심 교훈: 배터리가 </a:t>
            </a: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생존의 병목</a:t>
            </a: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이 될 때(DRAIN=3) Safety Reward의 차별적 가치가 드러난다. </a:t>
            </a: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→ 다음 두 슬라이드에서 실패 원인(②)과 수렴 증거(③)를 상세 분석한다.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73" y="1180884"/>
            <a:ext cx="16611653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838173" y="595312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981048" y="671512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09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97467" y="571500"/>
            <a:ext cx="7070150" cy="4380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조건 최적화 과정 ② — 핵심 실패 원인 분석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7772" y="628596"/>
            <a:ext cx="90420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왜 Step 2~4는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역효과·미해결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이었나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8173" y="1521970"/>
            <a:ext cx="16611653" cy="460555"/>
          </a:xfrm>
          <a:prstGeom prst="roundRect">
            <a:avLst>
              <a:gd name="adj" fmla="val 18613"/>
            </a:avLst>
          </a:prstGeom>
          <a:solidFill>
            <a:srgbClr val="A50034"/>
          </a:solidFill>
          <a:ln/>
        </p:spPr>
      </p:sp>
      <p:sp>
        <p:nvSpPr>
          <p:cNvPr id="8" name="Shape 6"/>
          <p:cNvSpPr/>
          <p:nvPr/>
        </p:nvSpPr>
        <p:spPr>
          <a:xfrm>
            <a:off x="1009596" y="1628450"/>
            <a:ext cx="659714" cy="247596"/>
          </a:xfrm>
          <a:prstGeom prst="roundRect">
            <a:avLst>
              <a:gd name="adj" fmla="val 23082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04846" y="1657025"/>
            <a:ext cx="545414" cy="22854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13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원인 ①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83502" y="1626691"/>
            <a:ext cx="4303073" cy="28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Step 2 — Safety 보상이 에피소드 내에서 거의 발동하지 않음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712461" y="1661328"/>
            <a:ext cx="1642142" cy="2199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-13" dirty="0">
                <a:solidFill>
                  <a:srgbClr val="FFFFFF">
                    <a:alpha val="85000"/>
                  </a:srgb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DRAIN=1 · WARNING=20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8173" y="3951657"/>
            <a:ext cx="1661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173" y="1982526"/>
            <a:ext cx="9525" cy="197779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7441167" y="1982526"/>
            <a:ext cx="9525" cy="197779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2502" y="1982526"/>
            <a:ext cx="4980872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42502" y="2361632"/>
            <a:ext cx="4980872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7" name="Text 15"/>
          <p:cNvSpPr/>
          <p:nvPr/>
        </p:nvSpPr>
        <p:spPr>
          <a:xfrm>
            <a:off x="994902" y="2068251"/>
            <a:ext cx="4825498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항목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23374" y="1982526"/>
            <a:ext cx="11622123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823374" y="2361632"/>
            <a:ext cx="11622123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20" name="Text 18"/>
          <p:cNvSpPr/>
          <p:nvPr/>
        </p:nvSpPr>
        <p:spPr>
          <a:xfrm>
            <a:off x="5975774" y="2068251"/>
            <a:ext cx="11665987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수치 · 분석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2502" y="2767797"/>
            <a:ext cx="498087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994902" y="2464675"/>
            <a:ext cx="4825498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배터리 WARNING 도달 조건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23374" y="2767797"/>
            <a:ext cx="116221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5975774" y="2464675"/>
            <a:ext cx="11665987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100 → 20 :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80스텝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이동 필요 (DRAIN=1)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42502" y="3160974"/>
            <a:ext cx="498087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994902" y="2862181"/>
            <a:ext cx="482549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7×7 최적 경로 길이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823374" y="3160974"/>
            <a:ext cx="116221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5975774" y="2862181"/>
            <a:ext cx="11665987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4~12스텝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→ 대부분 목표 도달 또는 Max Step(150)으로 종료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2502" y="3554151"/>
            <a:ext cx="498087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994902" y="3255358"/>
            <a:ext cx="482549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Safety 보상 실제 발동율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23374" y="3554151"/>
            <a:ext cx="116221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5975774" y="3255358"/>
            <a:ext cx="11665987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에피소드의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~0%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— 사실상 Proposed ≈ Baseline (reward 차이 미미)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4902" y="3648535"/>
            <a:ext cx="4825498" cy="25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평균 보상 (말기)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975774" y="3648535"/>
            <a:ext cx="11665987" cy="25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−70.4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38173" y="4278920"/>
            <a:ext cx="16611653" cy="460555"/>
          </a:xfrm>
          <a:prstGeom prst="roundRect">
            <a:avLst>
              <a:gd name="adj" fmla="val 18613"/>
            </a:avLst>
          </a:prstGeom>
          <a:solidFill>
            <a:srgbClr val="A5003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9596" y="4385400"/>
            <a:ext cx="659714" cy="247596"/>
          </a:xfrm>
          <a:prstGeom prst="roundRect">
            <a:avLst>
              <a:gd name="adj" fmla="val 23082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104846" y="4413975"/>
            <a:ext cx="545414" cy="22854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13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원인 ②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783502" y="4383641"/>
            <a:ext cx="5479387" cy="28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Step 3 — R_CHARGE_WASTE(−10)가 학습 초기 충전소 회피 행동을 역유발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5878064" y="4418277"/>
            <a:ext cx="1407265" cy="2199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-13" dirty="0">
                <a:solidFill>
                  <a:srgbClr val="FFFFFF">
                    <a:alpha val="85000"/>
                  </a:srgb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DRAIN=2 · WARN=40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38173" y="6708607"/>
            <a:ext cx="1661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838173" y="4739476"/>
            <a:ext cx="9525" cy="197779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40"/>
          <p:cNvSpPr/>
          <p:nvPr/>
        </p:nvSpPr>
        <p:spPr>
          <a:xfrm>
            <a:off x="17441167" y="4739476"/>
            <a:ext cx="9525" cy="197779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Shape 41"/>
          <p:cNvSpPr/>
          <p:nvPr/>
        </p:nvSpPr>
        <p:spPr>
          <a:xfrm>
            <a:off x="842502" y="4739476"/>
            <a:ext cx="4316692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44" name="Shape 42"/>
          <p:cNvSpPr/>
          <p:nvPr/>
        </p:nvSpPr>
        <p:spPr>
          <a:xfrm>
            <a:off x="842502" y="5118581"/>
            <a:ext cx="4316692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45" name="Text 43"/>
          <p:cNvSpPr/>
          <p:nvPr/>
        </p:nvSpPr>
        <p:spPr>
          <a:xfrm>
            <a:off x="994902" y="4825201"/>
            <a:ext cx="4141393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구간 (ep)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159194" y="4739476"/>
            <a:ext cx="3154615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47" name="Shape 45"/>
          <p:cNvSpPr/>
          <p:nvPr/>
        </p:nvSpPr>
        <p:spPr>
          <a:xfrm>
            <a:off x="5159194" y="5118581"/>
            <a:ext cx="3154615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48" name="Text 46"/>
          <p:cNvSpPr/>
          <p:nvPr/>
        </p:nvSpPr>
        <p:spPr>
          <a:xfrm>
            <a:off x="5216956" y="4825201"/>
            <a:ext cx="2944453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kern="0" spc="1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방전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313809" y="4739476"/>
            <a:ext cx="3154615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50" name="Shape 48"/>
          <p:cNvSpPr/>
          <p:nvPr/>
        </p:nvSpPr>
        <p:spPr>
          <a:xfrm>
            <a:off x="8313809" y="5118581"/>
            <a:ext cx="3154615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51" name="Text 49"/>
          <p:cNvSpPr/>
          <p:nvPr/>
        </p:nvSpPr>
        <p:spPr>
          <a:xfrm>
            <a:off x="8371571" y="4825201"/>
            <a:ext cx="2944453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kern="0" spc="1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방전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1468424" y="4739476"/>
            <a:ext cx="5977072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53" name="Shape 51"/>
          <p:cNvSpPr/>
          <p:nvPr/>
        </p:nvSpPr>
        <p:spPr>
          <a:xfrm>
            <a:off x="11468424" y="5118581"/>
            <a:ext cx="5977072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54" name="Text 52"/>
          <p:cNvSpPr/>
          <p:nvPr/>
        </p:nvSpPr>
        <p:spPr>
          <a:xfrm>
            <a:off x="11620824" y="4825201"/>
            <a:ext cx="5851585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판정 · 원인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42502" y="5524747"/>
            <a:ext cx="431669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54"/>
          <p:cNvSpPr/>
          <p:nvPr/>
        </p:nvSpPr>
        <p:spPr>
          <a:xfrm>
            <a:off x="994902" y="5221624"/>
            <a:ext cx="4141393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1~100 </a:t>
            </a:r>
            <a:r>
              <a:rPr lang="en-US" sz="1000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탐색기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159194" y="5524747"/>
            <a:ext cx="31546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5216956" y="5221624"/>
            <a:ext cx="2944453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39.2회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313809" y="5135899"/>
            <a:ext cx="3154615" cy="397506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60" name="Shape 58"/>
          <p:cNvSpPr/>
          <p:nvPr/>
        </p:nvSpPr>
        <p:spPr>
          <a:xfrm>
            <a:off x="8313809" y="5524747"/>
            <a:ext cx="31546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Text 59"/>
          <p:cNvSpPr/>
          <p:nvPr/>
        </p:nvSpPr>
        <p:spPr>
          <a:xfrm>
            <a:off x="8371571" y="5221624"/>
            <a:ext cx="2944453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39.4회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1468424" y="5524747"/>
            <a:ext cx="597707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3" name="Text 61"/>
          <p:cNvSpPr/>
          <p:nvPr/>
        </p:nvSpPr>
        <p:spPr>
          <a:xfrm>
            <a:off x="11620824" y="5221624"/>
            <a:ext cx="5851585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≈ 동일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— ε≈1.0 완전 랜덤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42502" y="5917924"/>
            <a:ext cx="431669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Text 63"/>
          <p:cNvSpPr/>
          <p:nvPr/>
        </p:nvSpPr>
        <p:spPr>
          <a:xfrm>
            <a:off x="994902" y="5619131"/>
            <a:ext cx="414139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101~200 </a:t>
            </a:r>
            <a:r>
              <a:rPr lang="en-US" sz="1000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반학습 ε≈0.7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5159194" y="5917924"/>
            <a:ext cx="31546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7" name="Text 65"/>
          <p:cNvSpPr/>
          <p:nvPr/>
        </p:nvSpPr>
        <p:spPr>
          <a:xfrm>
            <a:off x="5216956" y="5619131"/>
            <a:ext cx="294445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4.4회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8313809" y="5533406"/>
            <a:ext cx="3154615" cy="393177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69" name="Shape 67"/>
          <p:cNvSpPr/>
          <p:nvPr/>
        </p:nvSpPr>
        <p:spPr>
          <a:xfrm>
            <a:off x="8313809" y="5917924"/>
            <a:ext cx="31546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0" name="Text 68"/>
          <p:cNvSpPr/>
          <p:nvPr/>
        </p:nvSpPr>
        <p:spPr>
          <a:xfrm>
            <a:off x="8371571" y="5619131"/>
            <a:ext cx="294445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10.6회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1468424" y="5917924"/>
            <a:ext cx="597707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70"/>
          <p:cNvSpPr/>
          <p:nvPr/>
        </p:nvSpPr>
        <p:spPr>
          <a:xfrm>
            <a:off x="11620824" y="5619131"/>
            <a:ext cx="5851585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2.4× 나쁨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— WASTE 먼저 학습 → 회피 강화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842502" y="6311100"/>
            <a:ext cx="431669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72"/>
          <p:cNvSpPr/>
          <p:nvPr/>
        </p:nvSpPr>
        <p:spPr>
          <a:xfrm>
            <a:off x="994902" y="6012308"/>
            <a:ext cx="414139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200~ </a:t>
            </a:r>
            <a:r>
              <a:rPr lang="en-US" sz="1000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수렴 후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5159194" y="6311100"/>
            <a:ext cx="31546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6" name="Text 74"/>
          <p:cNvSpPr/>
          <p:nvPr/>
        </p:nvSpPr>
        <p:spPr>
          <a:xfrm>
            <a:off x="5216956" y="6012308"/>
            <a:ext cx="294445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1~2회/100ep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313809" y="5926583"/>
            <a:ext cx="3154615" cy="393177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78" name="Shape 76"/>
          <p:cNvSpPr/>
          <p:nvPr/>
        </p:nvSpPr>
        <p:spPr>
          <a:xfrm>
            <a:off x="8313809" y="6311100"/>
            <a:ext cx="31546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Text 77"/>
          <p:cNvSpPr/>
          <p:nvPr/>
        </p:nvSpPr>
        <p:spPr>
          <a:xfrm>
            <a:off x="8371571" y="6012308"/>
            <a:ext cx="294445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0~1회/100ep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1468424" y="6311100"/>
            <a:ext cx="597707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1" name="Text 79"/>
          <p:cNvSpPr/>
          <p:nvPr/>
        </p:nvSpPr>
        <p:spPr>
          <a:xfrm>
            <a:off x="11620824" y="6012308"/>
            <a:ext cx="5851585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뒤늦게 역전 — 그러나 초반 손실 누적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842502" y="6319760"/>
            <a:ext cx="4316692" cy="39317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83" name="Text 81"/>
          <p:cNvSpPr/>
          <p:nvPr/>
        </p:nvSpPr>
        <p:spPr>
          <a:xfrm>
            <a:off x="994902" y="6405485"/>
            <a:ext cx="4141393" cy="25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5 seed 총계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159194" y="6319760"/>
            <a:ext cx="3154615" cy="39317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85" name="Text 83"/>
          <p:cNvSpPr/>
          <p:nvPr/>
        </p:nvSpPr>
        <p:spPr>
          <a:xfrm>
            <a:off x="5216956" y="6405485"/>
            <a:ext cx="2944453" cy="25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265회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313809" y="6319760"/>
            <a:ext cx="3154615" cy="393177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87" name="Text 85"/>
          <p:cNvSpPr/>
          <p:nvPr/>
        </p:nvSpPr>
        <p:spPr>
          <a:xfrm>
            <a:off x="8371571" y="6405485"/>
            <a:ext cx="2944453" cy="25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277회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1468424" y="6319760"/>
            <a:ext cx="5977072" cy="39317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89" name="Text 87"/>
          <p:cNvSpPr/>
          <p:nvPr/>
        </p:nvSpPr>
        <p:spPr>
          <a:xfrm>
            <a:off x="11620824" y="6405485"/>
            <a:ext cx="5851585" cy="25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✕ 전체 합산 역효과 확정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838173" y="7118994"/>
            <a:ext cx="16611653" cy="460555"/>
          </a:xfrm>
          <a:prstGeom prst="roundRect">
            <a:avLst>
              <a:gd name="adj" fmla="val 18613"/>
            </a:avLst>
          </a:prstGeom>
          <a:solidFill>
            <a:srgbClr val="A50034"/>
          </a:solidFill>
          <a:ln/>
        </p:spPr>
      </p:sp>
      <p:sp>
        <p:nvSpPr>
          <p:cNvPr id="91" name="Shape 89"/>
          <p:cNvSpPr/>
          <p:nvPr/>
        </p:nvSpPr>
        <p:spPr>
          <a:xfrm>
            <a:off x="1009596" y="7225474"/>
            <a:ext cx="659714" cy="247596"/>
          </a:xfrm>
          <a:prstGeom prst="roundRect">
            <a:avLst>
              <a:gd name="adj" fmla="val 23082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1104846" y="7254049"/>
            <a:ext cx="545414" cy="22854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13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원인 ③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1783502" y="7223715"/>
            <a:ext cx="5367623" cy="28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Step 4 — DRAIN=2는 충전 없이 목표 도달 가능 → Baseline도 스스로 수렴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16365221" y="7258351"/>
            <a:ext cx="836982" cy="2199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-13" dirty="0">
                <a:solidFill>
                  <a:srgbClr val="FFFFFF">
                    <a:alpha val="85000"/>
                  </a:srgb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WASTE 제거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838173" y="9155504"/>
            <a:ext cx="1661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6" name="Shape 94"/>
          <p:cNvSpPr/>
          <p:nvPr/>
        </p:nvSpPr>
        <p:spPr>
          <a:xfrm>
            <a:off x="838173" y="7579549"/>
            <a:ext cx="9525" cy="158461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7" name="Shape 95"/>
          <p:cNvSpPr/>
          <p:nvPr/>
        </p:nvSpPr>
        <p:spPr>
          <a:xfrm>
            <a:off x="17441167" y="7579549"/>
            <a:ext cx="9525" cy="158461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8" name="Shape 96"/>
          <p:cNvSpPr/>
          <p:nvPr/>
        </p:nvSpPr>
        <p:spPr>
          <a:xfrm>
            <a:off x="842502" y="7579549"/>
            <a:ext cx="4980872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99" name="Shape 97"/>
          <p:cNvSpPr/>
          <p:nvPr/>
        </p:nvSpPr>
        <p:spPr>
          <a:xfrm>
            <a:off x="842502" y="7958655"/>
            <a:ext cx="4980872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00" name="Text 98"/>
          <p:cNvSpPr/>
          <p:nvPr/>
        </p:nvSpPr>
        <p:spPr>
          <a:xfrm>
            <a:off x="994902" y="7665274"/>
            <a:ext cx="4825498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분석 항목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5823374" y="7579549"/>
            <a:ext cx="11622123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823374" y="7958655"/>
            <a:ext cx="11622123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03" name="Text 101"/>
          <p:cNvSpPr/>
          <p:nvPr/>
        </p:nvSpPr>
        <p:spPr>
          <a:xfrm>
            <a:off x="5975774" y="7665274"/>
            <a:ext cx="11665987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내용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842502" y="8364821"/>
            <a:ext cx="498087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5" name="Text 103"/>
          <p:cNvSpPr/>
          <p:nvPr/>
        </p:nvSpPr>
        <p:spPr>
          <a:xfrm>
            <a:off x="994902" y="8061698"/>
            <a:ext cx="4825498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DRAIN=2 배터리 지속 시간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5823374" y="8364821"/>
            <a:ext cx="116221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7" name="Text 105"/>
          <p:cNvSpPr/>
          <p:nvPr/>
        </p:nvSpPr>
        <p:spPr>
          <a:xfrm>
            <a:off x="5975774" y="8061698"/>
            <a:ext cx="11665987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100 ÷ 2 = 50스텝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지속 → 최적 경로(4~12스텝)의 4~12배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842502" y="8757998"/>
            <a:ext cx="498087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9" name="Text 107"/>
          <p:cNvSpPr/>
          <p:nvPr/>
        </p:nvSpPr>
        <p:spPr>
          <a:xfrm>
            <a:off x="994902" y="8459205"/>
            <a:ext cx="482549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자가 학습 능력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5823374" y="8757998"/>
            <a:ext cx="116221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1" name="Text 109"/>
          <p:cNvSpPr/>
          <p:nvPr/>
        </p:nvSpPr>
        <p:spPr>
          <a:xfrm>
            <a:off x="5975774" y="8459205"/>
            <a:ext cx="11665987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−200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방전 패널티만으로 "충전 없이 빠른 목표" 전략 수렴 → Safety 가치 소멸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842502" y="8766656"/>
            <a:ext cx="4980872" cy="39317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113" name="Text 111"/>
          <p:cNvSpPr/>
          <p:nvPr/>
        </p:nvSpPr>
        <p:spPr>
          <a:xfrm>
            <a:off x="994902" y="8852381"/>
            <a:ext cx="4825498" cy="25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결론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5823374" y="8766656"/>
            <a:ext cx="11622123" cy="39317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115" name="Text 113"/>
          <p:cNvSpPr/>
          <p:nvPr/>
        </p:nvSpPr>
        <p:spPr>
          <a:xfrm>
            <a:off x="5975774" y="8852381"/>
            <a:ext cx="11665987" cy="25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Safety Reward가 의미를 가지려면 배터리가 </a:t>
            </a: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실제 병목</a:t>
            </a:r>
            <a:r>
              <a:rPr lang="en-US" sz="1200" dirty="0">
                <a:solidFill>
                  <a:srgbClr val="3C3F46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이어야 한다 → </a:t>
            </a: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DRAIN=3 (33스텝)</a:t>
            </a:r>
            <a:r>
              <a:rPr lang="en-US" sz="1200" dirty="0">
                <a:solidFill>
                  <a:srgbClr val="3C3F46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으로 압박 극대화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173" y="1180884"/>
            <a:ext cx="16611653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838173" y="595312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981048" y="671512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09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97467" y="571500"/>
            <a:ext cx="8890156" cy="4380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실험 조건 최적화 과정 ③ — Step 5 수렴 증거 (DRAIN=3)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27777" y="628596"/>
            <a:ext cx="7222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미수렴 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vs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완전 수렴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8173" y="1679866"/>
            <a:ext cx="17110003" cy="289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에포크 구간별 방전 횟수 분석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38173" y="2064249"/>
            <a:ext cx="3156103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9" name="Shape 7"/>
          <p:cNvSpPr/>
          <p:nvPr/>
        </p:nvSpPr>
        <p:spPr>
          <a:xfrm>
            <a:off x="838173" y="2443355"/>
            <a:ext cx="3156103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0" name="Text 8"/>
          <p:cNvSpPr/>
          <p:nvPr/>
        </p:nvSpPr>
        <p:spPr>
          <a:xfrm>
            <a:off x="990573" y="2149974"/>
            <a:ext cx="2945986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에포크 구간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69039" y="2064249"/>
            <a:ext cx="2675794" cy="396424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969039" y="2443355"/>
            <a:ext cx="2675794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3" name="Text 11"/>
          <p:cNvSpPr/>
          <p:nvPr/>
        </p:nvSpPr>
        <p:spPr>
          <a:xfrm>
            <a:off x="3041165" y="2149974"/>
            <a:ext cx="2451268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kern="0" spc="1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방전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44833" y="2064249"/>
            <a:ext cx="2806357" cy="396424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644833" y="2443355"/>
            <a:ext cx="2806357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6" name="Text 14"/>
          <p:cNvSpPr/>
          <p:nvPr/>
        </p:nvSpPr>
        <p:spPr>
          <a:xfrm>
            <a:off x="5713042" y="2149974"/>
            <a:ext cx="2585748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kern="0" spc="1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방전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451190" y="2064249"/>
            <a:ext cx="2491653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1190" y="2443355"/>
            <a:ext cx="2491653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19" name="Text 17"/>
          <p:cNvSpPr/>
          <p:nvPr/>
        </p:nvSpPr>
        <p:spPr>
          <a:xfrm>
            <a:off x="8603590" y="2149974"/>
            <a:ext cx="2263053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판정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942844" y="2064249"/>
            <a:ext cx="3659847" cy="396424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42844" y="2443355"/>
            <a:ext cx="3659847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22" name="Text 20"/>
          <p:cNvSpPr/>
          <p:nvPr/>
        </p:nvSpPr>
        <p:spPr>
          <a:xfrm>
            <a:off x="11095244" y="2149974"/>
            <a:ext cx="3566145" cy="24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kern="0" spc="1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해석</a:t>
            </a:r>
            <a:endParaRPr lang="en-US" sz="11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38173" y="2849520"/>
            <a:ext cx="31561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990573" y="2546398"/>
            <a:ext cx="2945986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1~100 </a:t>
            </a:r>
            <a:r>
              <a:rPr lang="en-US" sz="1000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완전 탐색기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969039" y="2849520"/>
            <a:ext cx="267579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3041165" y="2546398"/>
            <a:ext cx="2451268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52.0회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644833" y="2460673"/>
            <a:ext cx="2806357" cy="397506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28" name="Shape 26"/>
          <p:cNvSpPr/>
          <p:nvPr/>
        </p:nvSpPr>
        <p:spPr>
          <a:xfrm>
            <a:off x="5644833" y="2849520"/>
            <a:ext cx="280635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5713042" y="2546398"/>
            <a:ext cx="2585748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48.8회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51190" y="2849520"/>
            <a:ext cx="249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8603590" y="2546398"/>
            <a:ext cx="2263053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≈ 동일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942844" y="2849520"/>
            <a:ext cx="36598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11095244" y="2546398"/>
            <a:ext cx="3566145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ε=1.0 완전 랜덤 — 차이 없음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38173" y="3242697"/>
            <a:ext cx="31561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990573" y="2943904"/>
            <a:ext cx="2945986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101~200 </a:t>
            </a:r>
            <a:r>
              <a:rPr lang="en-US" sz="1000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초기 학습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969039" y="3242697"/>
            <a:ext cx="267579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3041165" y="2943904"/>
            <a:ext cx="245126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20.6회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644833" y="2858179"/>
            <a:ext cx="2806357" cy="393177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9" name="Shape 37"/>
          <p:cNvSpPr/>
          <p:nvPr/>
        </p:nvSpPr>
        <p:spPr>
          <a:xfrm>
            <a:off x="5644833" y="3242697"/>
            <a:ext cx="280635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8"/>
          <p:cNvSpPr/>
          <p:nvPr/>
        </p:nvSpPr>
        <p:spPr>
          <a:xfrm>
            <a:off x="5713042" y="2943904"/>
            <a:ext cx="258574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19.4회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451190" y="3242697"/>
            <a:ext cx="249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8603590" y="2943904"/>
            <a:ext cx="226305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≈ 동일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942844" y="3242697"/>
            <a:ext cx="36598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11095244" y="2943904"/>
            <a:ext cx="3566145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Safety 신호 학습 시작 — 아직 미미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8173" y="3635874"/>
            <a:ext cx="31561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990573" y="3337081"/>
            <a:ext cx="2945986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201~300 </a:t>
            </a:r>
            <a:r>
              <a:rPr lang="en-US" sz="1000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중기 학습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969039" y="3635874"/>
            <a:ext cx="267579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3041165" y="3337081"/>
            <a:ext cx="245126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6.8회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644833" y="3251356"/>
            <a:ext cx="2806357" cy="393177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50" name="Shape 48"/>
          <p:cNvSpPr/>
          <p:nvPr/>
        </p:nvSpPr>
        <p:spPr>
          <a:xfrm>
            <a:off x="5644833" y="3635874"/>
            <a:ext cx="280635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1" name="Text 49"/>
          <p:cNvSpPr/>
          <p:nvPr/>
        </p:nvSpPr>
        <p:spPr>
          <a:xfrm>
            <a:off x="5713042" y="3337081"/>
            <a:ext cx="258574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10.0회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451190" y="3635874"/>
            <a:ext cx="249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8603590" y="3337081"/>
            <a:ext cx="226305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B8860B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우세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0942844" y="3635874"/>
            <a:ext cx="36598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Text 53"/>
          <p:cNvSpPr/>
          <p:nvPr/>
        </p:nvSpPr>
        <p:spPr>
          <a:xfrm>
            <a:off x="11095244" y="3337081"/>
            <a:ext cx="3566145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단순 회피 전략 먼저 수렴 — 일시적 역전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38173" y="3644533"/>
            <a:ext cx="3156103" cy="39317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57" name="Shape 55"/>
          <p:cNvSpPr/>
          <p:nvPr/>
        </p:nvSpPr>
        <p:spPr>
          <a:xfrm>
            <a:off x="838173" y="4029051"/>
            <a:ext cx="31561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8" name="Text 56"/>
          <p:cNvSpPr/>
          <p:nvPr/>
        </p:nvSpPr>
        <p:spPr>
          <a:xfrm>
            <a:off x="990573" y="3730258"/>
            <a:ext cx="2945986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301~500 </a:t>
            </a:r>
            <a:r>
              <a:rPr lang="en-US" sz="1000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역전 구간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969039" y="3644533"/>
            <a:ext cx="2675794" cy="39317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60" name="Shape 58"/>
          <p:cNvSpPr/>
          <p:nvPr/>
        </p:nvSpPr>
        <p:spPr>
          <a:xfrm>
            <a:off x="2969039" y="4029051"/>
            <a:ext cx="267579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Text 59"/>
          <p:cNvSpPr/>
          <p:nvPr/>
        </p:nvSpPr>
        <p:spPr>
          <a:xfrm>
            <a:off x="3041165" y="3730258"/>
            <a:ext cx="245126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4.6회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644833" y="3644533"/>
            <a:ext cx="2806357" cy="393177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63" name="Shape 61"/>
          <p:cNvSpPr/>
          <p:nvPr/>
        </p:nvSpPr>
        <p:spPr>
          <a:xfrm>
            <a:off x="5644833" y="4029051"/>
            <a:ext cx="280635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4" name="Text 62"/>
          <p:cNvSpPr/>
          <p:nvPr/>
        </p:nvSpPr>
        <p:spPr>
          <a:xfrm>
            <a:off x="5713042" y="3730258"/>
            <a:ext cx="258574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1.0회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8451190" y="3644533"/>
            <a:ext cx="2491653" cy="39317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66" name="Shape 64"/>
          <p:cNvSpPr/>
          <p:nvPr/>
        </p:nvSpPr>
        <p:spPr>
          <a:xfrm>
            <a:off x="8451190" y="4029051"/>
            <a:ext cx="249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7" name="Text 65"/>
          <p:cNvSpPr/>
          <p:nvPr/>
        </p:nvSpPr>
        <p:spPr>
          <a:xfrm>
            <a:off x="8603590" y="3730258"/>
            <a:ext cx="226305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★ Proposed 역전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0942844" y="3644533"/>
            <a:ext cx="3659847" cy="39317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69" name="Shape 67"/>
          <p:cNvSpPr/>
          <p:nvPr/>
        </p:nvSpPr>
        <p:spPr>
          <a:xfrm>
            <a:off x="10942844" y="4029051"/>
            <a:ext cx="36598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0" name="Text 68"/>
          <p:cNvSpPr/>
          <p:nvPr/>
        </p:nvSpPr>
        <p:spPr>
          <a:xfrm>
            <a:off x="11095244" y="3730258"/>
            <a:ext cx="3566145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Safety Reward 내재화 완료 → 선제적 충전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838173" y="4422227"/>
            <a:ext cx="31561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70"/>
          <p:cNvSpPr/>
          <p:nvPr/>
        </p:nvSpPr>
        <p:spPr>
          <a:xfrm>
            <a:off x="990573" y="4123435"/>
            <a:ext cx="2945986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501~700 </a:t>
            </a:r>
            <a:r>
              <a:rPr lang="en-US" sz="1000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수렴 완성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969039" y="4422227"/>
            <a:ext cx="267579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72"/>
          <p:cNvSpPr/>
          <p:nvPr/>
        </p:nvSpPr>
        <p:spPr>
          <a:xfrm>
            <a:off x="3041165" y="4123435"/>
            <a:ext cx="245126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3.2회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5644833" y="4037710"/>
            <a:ext cx="2806357" cy="393177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76" name="Shape 74"/>
          <p:cNvSpPr/>
          <p:nvPr/>
        </p:nvSpPr>
        <p:spPr>
          <a:xfrm>
            <a:off x="5644833" y="4422227"/>
            <a:ext cx="280635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7" name="Text 75"/>
          <p:cNvSpPr/>
          <p:nvPr/>
        </p:nvSpPr>
        <p:spPr>
          <a:xfrm>
            <a:off x="5713042" y="4123435"/>
            <a:ext cx="258574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0.2회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8451190" y="4422227"/>
            <a:ext cx="249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Text 77"/>
          <p:cNvSpPr/>
          <p:nvPr/>
        </p:nvSpPr>
        <p:spPr>
          <a:xfrm>
            <a:off x="8603590" y="4123435"/>
            <a:ext cx="226305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 압도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0942844" y="4422227"/>
            <a:ext cx="36598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1" name="Text 79"/>
          <p:cNvSpPr/>
          <p:nvPr/>
        </p:nvSpPr>
        <p:spPr>
          <a:xfrm>
            <a:off x="11095244" y="4123435"/>
            <a:ext cx="3566145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사후 대응 / Proposed 예방 충전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838173" y="4815405"/>
            <a:ext cx="31561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3" name="Text 81"/>
          <p:cNvSpPr/>
          <p:nvPr/>
        </p:nvSpPr>
        <p:spPr>
          <a:xfrm>
            <a:off x="990573" y="4516612"/>
            <a:ext cx="2945986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700~1500 </a:t>
            </a:r>
            <a:r>
              <a:rPr lang="en-US" sz="1000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후반 안정기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2969039" y="4815405"/>
            <a:ext cx="267579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5" name="Text 83"/>
          <p:cNvSpPr/>
          <p:nvPr/>
        </p:nvSpPr>
        <p:spPr>
          <a:xfrm>
            <a:off x="3041165" y="4516612"/>
            <a:ext cx="245126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4.6/800ep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5644833" y="4430887"/>
            <a:ext cx="2806357" cy="393177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87" name="Shape 85"/>
          <p:cNvSpPr/>
          <p:nvPr/>
        </p:nvSpPr>
        <p:spPr>
          <a:xfrm>
            <a:off x="5644833" y="4815405"/>
            <a:ext cx="280635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8" name="Text 86"/>
          <p:cNvSpPr/>
          <p:nvPr/>
        </p:nvSpPr>
        <p:spPr>
          <a:xfrm>
            <a:off x="5713042" y="4516612"/>
            <a:ext cx="2585748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1.6/800ep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8451190" y="4815405"/>
            <a:ext cx="249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0" name="Text 88"/>
          <p:cNvSpPr/>
          <p:nvPr/>
        </p:nvSpPr>
        <p:spPr>
          <a:xfrm>
            <a:off x="8603590" y="4516612"/>
            <a:ext cx="2263053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격차 유지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10942844" y="4815405"/>
            <a:ext cx="36598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Text 90"/>
          <p:cNvSpPr/>
          <p:nvPr/>
        </p:nvSpPr>
        <p:spPr>
          <a:xfrm>
            <a:off x="11095244" y="4516612"/>
            <a:ext cx="3566145" cy="25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 미수렴 vs Proposed 안정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838173" y="4824063"/>
            <a:ext cx="3156103" cy="38884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94" name="Text 92"/>
          <p:cNvSpPr/>
          <p:nvPr/>
        </p:nvSpPr>
        <p:spPr>
          <a:xfrm>
            <a:off x="990573" y="4909788"/>
            <a:ext cx="2945986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5 seed 총계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2969039" y="4824063"/>
            <a:ext cx="2675794" cy="38884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96" name="Text 94"/>
          <p:cNvSpPr/>
          <p:nvPr/>
        </p:nvSpPr>
        <p:spPr>
          <a:xfrm>
            <a:off x="3041165" y="4909788"/>
            <a:ext cx="2451268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471회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5644833" y="4824063"/>
            <a:ext cx="2806357" cy="388847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98" name="Text 96"/>
          <p:cNvSpPr/>
          <p:nvPr/>
        </p:nvSpPr>
        <p:spPr>
          <a:xfrm>
            <a:off x="5713042" y="4909788"/>
            <a:ext cx="2585748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5BA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415회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8451190" y="4824063"/>
            <a:ext cx="2491653" cy="38884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100" name="Text 98"/>
          <p:cNvSpPr/>
          <p:nvPr/>
        </p:nvSpPr>
        <p:spPr>
          <a:xfrm>
            <a:off x="8603590" y="4909788"/>
            <a:ext cx="2263053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56회 감소</a:t>
            </a:r>
            <a:endParaRPr lang="en-US" sz="108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10942844" y="4824063"/>
            <a:ext cx="3659847" cy="388847"/>
          </a:xfrm>
          <a:prstGeom prst="rect">
            <a:avLst/>
          </a:prstGeom>
          <a:solidFill>
            <a:srgbClr val="FBF1F4"/>
          </a:solidFill>
          <a:ln/>
        </p:spPr>
      </p:sp>
      <p:sp>
        <p:nvSpPr>
          <p:cNvPr id="102" name="Text 100"/>
          <p:cNvSpPr/>
          <p:nvPr/>
        </p:nvSpPr>
        <p:spPr>
          <a:xfrm>
            <a:off x="11095244" y="4909788"/>
            <a:ext cx="3566145" cy="25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C3F46"/>
                </a:solidFill>
                <a:highlight>
                  <a:srgbClr val="FBF1F4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말기 방전율 </a:t>
            </a:r>
            <a:r>
              <a:rPr lang="en-US" sz="12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2.0 → 0.6 (70% 개선)</a:t>
            </a:r>
            <a:endParaRPr 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838173" y="5995608"/>
            <a:ext cx="16611653" cy="451896"/>
          </a:xfrm>
          <a:prstGeom prst="roundRect">
            <a:avLst>
              <a:gd name="adj" fmla="val 18970"/>
            </a:avLst>
          </a:prstGeom>
          <a:solidFill>
            <a:srgbClr val="A50034"/>
          </a:solidFill>
          <a:ln/>
        </p:spPr>
      </p:sp>
      <p:sp>
        <p:nvSpPr>
          <p:cNvPr id="104" name="Text 102"/>
          <p:cNvSpPr/>
          <p:nvPr/>
        </p:nvSpPr>
        <p:spPr>
          <a:xfrm>
            <a:off x="1009623" y="6100383"/>
            <a:ext cx="16767103" cy="280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최종 채택 파라미터</a:t>
            </a:r>
            <a:endParaRPr lang="en-US" sz="12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838173" y="7278641"/>
            <a:ext cx="166116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38173" y="6447504"/>
            <a:ext cx="9525" cy="8397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7441167" y="6447504"/>
            <a:ext cx="9525" cy="8397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157040" y="6447504"/>
            <a:ext cx="9525" cy="83113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9" name="Text 107"/>
          <p:cNvSpPr/>
          <p:nvPr/>
        </p:nvSpPr>
        <p:spPr>
          <a:xfrm>
            <a:off x="973744" y="6599849"/>
            <a:ext cx="3056383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38" b="1" kern="0" spc="9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DRAIN_PER_STEP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973744" y="6831886"/>
            <a:ext cx="305638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3</a:t>
            </a:r>
            <a:endParaRPr lang="en-US" sz="17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7475907" y="6447504"/>
            <a:ext cx="9525" cy="83113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2" name="Text 110"/>
          <p:cNvSpPr/>
          <p:nvPr/>
        </p:nvSpPr>
        <p:spPr>
          <a:xfrm>
            <a:off x="4292611" y="6599849"/>
            <a:ext cx="3056383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38" b="1" kern="0" spc="9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WARNING_THRESHOLD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4292611" y="6831886"/>
            <a:ext cx="305638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40</a:t>
            </a:r>
            <a:endParaRPr lang="en-US" sz="17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10794775" y="6447504"/>
            <a:ext cx="9525" cy="83113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5" name="Text 113"/>
          <p:cNvSpPr/>
          <p:nvPr/>
        </p:nvSpPr>
        <p:spPr>
          <a:xfrm>
            <a:off x="7611479" y="6599849"/>
            <a:ext cx="3056383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38" b="1" kern="0" spc="9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R_CHARGE_LOW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7611479" y="6831886"/>
            <a:ext cx="305638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+50</a:t>
            </a:r>
            <a:endParaRPr lang="en-US" sz="17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14113642" y="6447504"/>
            <a:ext cx="9525" cy="83113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930345" y="6599849"/>
            <a:ext cx="3056383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38" b="1" kern="0" spc="9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R_CHARGE_WASTE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10930345" y="6831886"/>
            <a:ext cx="305638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9AA0A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제거</a:t>
            </a:r>
            <a:endParaRPr lang="en-US" sz="17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14249083" y="6599849"/>
            <a:ext cx="3065302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38" b="1" kern="0" spc="9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R_DEAD</a:t>
            </a:r>
            <a:endParaRPr lang="en-US" sz="938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14249083" y="6831886"/>
            <a:ext cx="3065302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−200</a:t>
            </a:r>
            <a:endParaRPr lang="en-US" sz="172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838173" y="7515819"/>
            <a:ext cx="16611653" cy="555805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38173" y="7515819"/>
            <a:ext cx="25977" cy="555805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73700" y="7668219"/>
            <a:ext cx="16664926" cy="28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Baseline은 ep 1,500까지 방전이 사라지지 않음 </a:t>
            </a: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(미수렴)</a:t>
            </a: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. Proposed는 ep 500 이후 방전율이 거의 0으로 수렴 — </a:t>
            </a:r>
            <a:r>
              <a:rPr lang="en-US" sz="135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Safety 정책의 완전한 내재화</a:t>
            </a:r>
            <a:r>
              <a:rPr lang="en-US" sz="1350" dirty="0">
                <a:solidFill>
                  <a:srgbClr val="3C3F46"/>
                </a:solidFill>
                <a:highlight>
                  <a:srgbClr val="F7F7F9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를 실험으로 증명한다.</a:t>
            </a:r>
            <a:endParaRPr lang="en-US" sz="13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1314152"/>
            <a:ext cx="1645930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728581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057221" y="804781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10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640" y="704769"/>
            <a:ext cx="4020875" cy="43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토의 — Safe RL 관점 해석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39239" y="761865"/>
            <a:ext cx="119344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안전 비용의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Reward 내재화 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효과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90546" y="2607739"/>
            <a:ext cx="7687650" cy="2393563"/>
          </a:xfrm>
          <a:prstGeom prst="roundRect">
            <a:avLst>
              <a:gd name="adj" fmla="val 3721"/>
            </a:avLst>
          </a:prstGeom>
          <a:solidFill>
            <a:srgbClr val="FBF1F4"/>
          </a:solidFill>
          <a:ln w="8659">
            <a:solidFill>
              <a:srgbClr val="F4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4005" y="330596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/>
        </p:spPr>
      </p:sp>
      <p:sp>
        <p:nvSpPr>
          <p:cNvPr id="9" name="Text 7"/>
          <p:cNvSpPr/>
          <p:nvPr/>
        </p:nvSpPr>
        <p:spPr>
          <a:xfrm>
            <a:off x="1265905" y="330596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8274" y="3353594"/>
            <a:ext cx="36209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Safe RL 관점 해석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04005" y="3839314"/>
            <a:ext cx="6481095" cy="677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단순 최적화(Baseline)는 안전 제약을 위반한다. Reward에 안전 비용을 내재화하는 것만으로 </a:t>
            </a: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방전 사고를 완전히 제거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했다.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372545" y="2607739"/>
            <a:ext cx="7687650" cy="2393563"/>
          </a:xfrm>
          <a:prstGeom prst="roundRect">
            <a:avLst>
              <a:gd name="adj" fmla="val 3721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86005" y="330596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/>
        </p:spPr>
      </p:sp>
      <p:sp>
        <p:nvSpPr>
          <p:cNvPr id="14" name="Text 12"/>
          <p:cNvSpPr/>
          <p:nvPr/>
        </p:nvSpPr>
        <p:spPr>
          <a:xfrm>
            <a:off x="9647905" y="330596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2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00274" y="3353594"/>
            <a:ext cx="17544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트레이드오프 분석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86005" y="3839314"/>
            <a:ext cx="6773195" cy="677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효율성 vs 안전성 상충 여부 → Proposed는 보상 </a:t>
            </a: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+147.8p 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향상과 방전율 </a:t>
            </a: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70% 감소 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를 동시 달성.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90546" y="5552469"/>
            <a:ext cx="7687650" cy="2393563"/>
          </a:xfrm>
          <a:prstGeom prst="roundRect">
            <a:avLst>
              <a:gd name="adj" fmla="val 3721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04005" y="625069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/>
        </p:spPr>
      </p:sp>
      <p:sp>
        <p:nvSpPr>
          <p:cNvPr id="19" name="Text 17"/>
          <p:cNvSpPr/>
          <p:nvPr/>
        </p:nvSpPr>
        <p:spPr>
          <a:xfrm>
            <a:off x="1265905" y="625069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3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18274" y="6298324"/>
            <a:ext cx="27664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수렴 안정성 해석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04005" y="6784045"/>
            <a:ext cx="6883345" cy="677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Baseline은 ep 1,500까지 말기 방전율 2.0회 유지(미수렴).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575" dirty="0" err="1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Proposed는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 </a:t>
            </a: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ep 500 이후 ≈ 0으로 수렴 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→ Safety 정책 완전 내재화.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372545" y="5552469"/>
            <a:ext cx="7687650" cy="2393563"/>
          </a:xfrm>
          <a:prstGeom prst="roundRect">
            <a:avLst>
              <a:gd name="adj" fmla="val 3721"/>
            </a:avLst>
          </a:prstGeom>
          <a:solidFill>
            <a:srgbClr val="FCFCFD"/>
          </a:solidFill>
          <a:ln w="8659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86005" y="641062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/>
        </p:spPr>
      </p:sp>
      <p:sp>
        <p:nvSpPr>
          <p:cNvPr id="24" name="Text 22"/>
          <p:cNvSpPr/>
          <p:nvPr/>
        </p:nvSpPr>
        <p:spPr>
          <a:xfrm>
            <a:off x="9647905" y="6410621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4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200274" y="6458246"/>
            <a:ext cx="6865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-19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한계점</a:t>
            </a:r>
            <a:endParaRPr lang="en-US" sz="18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86005" y="6943967"/>
            <a:ext cx="6188995" cy="35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단일 AGV 환경 / 7×7 단순 맵 / 실제 창고 환경과 </a:t>
            </a:r>
            <a:r>
              <a:rPr lang="en-US" sz="1575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스케일 차이 </a:t>
            </a:r>
            <a:r>
              <a:rPr lang="en-US" sz="1575" dirty="0">
                <a:solidFill>
                  <a:srgbClr val="3C3F4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존재.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1314152"/>
            <a:ext cx="16459308" cy="17318"/>
          </a:xfrm>
          <a:prstGeom prst="rect">
            <a:avLst/>
          </a:prstGeom>
          <a:solidFill>
            <a:srgbClr val="1516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728581"/>
            <a:ext cx="549852" cy="352317"/>
          </a:xfrm>
          <a:prstGeom prst="roundRect">
            <a:avLst>
              <a:gd name="adj" fmla="val 8111"/>
            </a:avLst>
          </a:prstGeom>
          <a:solidFill>
            <a:srgbClr val="A50034"/>
          </a:solidFill>
          <a:ln/>
        </p:spPr>
      </p:sp>
      <p:sp>
        <p:nvSpPr>
          <p:cNvPr id="4" name="Text 2"/>
          <p:cNvSpPr/>
          <p:nvPr/>
        </p:nvSpPr>
        <p:spPr>
          <a:xfrm>
            <a:off x="1057221" y="804781"/>
            <a:ext cx="340302" cy="23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kern="0" spc="95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JetBrains Mono" pitchFamily="34" charset="-120"/>
              </a:rPr>
              <a:t>11</a:t>
            </a:r>
            <a:endParaRPr lang="en-US" sz="1575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73640" y="704769"/>
            <a:ext cx="2560683" cy="43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결론 및 향후 연구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77382" y="761865"/>
            <a:ext cx="133962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방전 사고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Zero 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· 효율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유지 </a:t>
            </a:r>
            <a:r>
              <a:rPr lang="en-US" sz="1500" dirty="0">
                <a:solidFill>
                  <a:srgbClr val="6C707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· 안전 </a:t>
            </a:r>
            <a:r>
              <a:rPr lang="en-US" sz="1500" b="1" dirty="0">
                <a:solidFill>
                  <a:srgbClr val="A5003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내재화</a:t>
            </a:r>
            <a:endParaRPr lang="en-US" sz="15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FC4BFA8-76F4-4140-8514-30D26E69BFB5}"/>
              </a:ext>
            </a:extLst>
          </p:cNvPr>
          <p:cNvGrpSpPr/>
          <p:nvPr/>
        </p:nvGrpSpPr>
        <p:grpSpPr>
          <a:xfrm>
            <a:off x="10675518" y="6643808"/>
            <a:ext cx="6022976" cy="2194055"/>
            <a:chOff x="10906178" y="6182680"/>
            <a:chExt cx="6022976" cy="2194055"/>
          </a:xfrm>
        </p:grpSpPr>
        <p:sp>
          <p:nvSpPr>
            <p:cNvPr id="18" name="Text 16"/>
            <p:cNvSpPr/>
            <p:nvPr/>
          </p:nvSpPr>
          <p:spPr>
            <a:xfrm>
              <a:off x="10906178" y="6182680"/>
              <a:ext cx="4557673" cy="31102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kern="0" spc="27" dirty="0">
                  <a:solidFill>
                    <a:srgbClr val="6C7079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향후 연구 방향</a:t>
              </a:r>
              <a:endParaRPr lang="en-US" sz="13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1191928" y="6624294"/>
              <a:ext cx="5737226" cy="3280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멀티 AGV 환경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확장 — 협력 / 충전소 경쟁 스케줄링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1191928" y="7568246"/>
              <a:ext cx="5737226" cy="3280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Constrained RL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— 안전을 Reward가 아닌 Hard Constraint로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1191928" y="7104739"/>
              <a:ext cx="5737226" cy="3280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실제 창고 지도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기반 환경 (장애물 · 동적 대기시간)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1191928" y="8048691"/>
              <a:ext cx="5737226" cy="3280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575" b="1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PPO / SAC </a:t>
              </a:r>
              <a:r>
                <a:rPr lang="en-US" sz="1575" dirty="0">
                  <a:solidFill>
                    <a:srgbClr val="3C3F46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적용 — 연속 공간 및 복잡한 환경 대응</a:t>
              </a:r>
              <a:endParaRPr lang="en-US" sz="1575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D71682F-849F-452B-AB04-DD5B4122CE85}"/>
              </a:ext>
            </a:extLst>
          </p:cNvPr>
          <p:cNvGrpSpPr/>
          <p:nvPr/>
        </p:nvGrpSpPr>
        <p:grpSpPr>
          <a:xfrm>
            <a:off x="1673640" y="2655756"/>
            <a:ext cx="8775754" cy="4757710"/>
            <a:chOff x="914347" y="2453662"/>
            <a:chExt cx="8775754" cy="4757710"/>
          </a:xfrm>
        </p:grpSpPr>
        <p:sp>
          <p:nvSpPr>
            <p:cNvPr id="8" name="Text 6"/>
            <p:cNvSpPr/>
            <p:nvPr/>
          </p:nvSpPr>
          <p:spPr>
            <a:xfrm>
              <a:off x="914347" y="2453662"/>
              <a:ext cx="8775754" cy="109418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32000"/>
                </a:lnSpc>
                <a:buNone/>
              </a:pPr>
              <a:r>
                <a:rPr lang="en-US" sz="3150" b="1" kern="0" spc="-63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“Reward Shaping을 통한 Safe RL </a:t>
              </a:r>
              <a:r>
                <a:rPr lang="en-US" sz="3150" b="1" kern="0" spc="-63" dirty="0" err="1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구현</a:t>
              </a:r>
              <a:endParaRPr lang="en-US" sz="3150" b="1" kern="0" spc="-63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endParaRPr>
            </a:p>
            <a:p>
              <a:pPr marL="0" indent="0" algn="l">
                <a:lnSpc>
                  <a:spcPct val="132000"/>
                </a:lnSpc>
                <a:buNone/>
              </a:pPr>
              <a:r>
                <a:rPr lang="en-US" sz="3150" b="1" kern="0" spc="-63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: AGV 배터리 방전 사고 </a:t>
              </a:r>
              <a:r>
                <a:rPr lang="en-US" sz="3150" b="1" kern="0" spc="-63" dirty="0">
                  <a:solidFill>
                    <a:srgbClr val="A50034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Zero 달성</a:t>
              </a:r>
              <a:r>
                <a:rPr lang="en-US" sz="3150" b="1" kern="0" spc="-63" dirty="0">
                  <a:solidFill>
                    <a:srgbClr val="15161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IBM Plex Sans KR" pitchFamily="34" charset="-120"/>
                </a:rPr>
                <a:t>”</a:t>
              </a:r>
              <a:endParaRPr lang="en-US" sz="315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6EF34438-6A2B-4417-A60F-1492F5B14DED}"/>
                </a:ext>
              </a:extLst>
            </p:cNvPr>
            <p:cNvGrpSpPr/>
            <p:nvPr/>
          </p:nvGrpSpPr>
          <p:grpSpPr>
            <a:xfrm>
              <a:off x="1449379" y="3880894"/>
              <a:ext cx="7760850" cy="942527"/>
              <a:chOff x="5993250" y="3938053"/>
              <a:chExt cx="7760850" cy="942527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5997274" y="3938053"/>
                <a:ext cx="7015096" cy="25977"/>
              </a:xfrm>
              <a:prstGeom prst="rect">
                <a:avLst/>
              </a:prstGeom>
              <a:solidFill>
                <a:srgbClr val="A50034"/>
              </a:solidFill>
              <a:ln/>
            </p:spPr>
          </p:sp>
          <p:sp>
            <p:nvSpPr>
              <p:cNvPr id="10" name="Text 8"/>
              <p:cNvSpPr/>
              <p:nvPr/>
            </p:nvSpPr>
            <p:spPr>
              <a:xfrm>
                <a:off x="5993250" y="4007400"/>
                <a:ext cx="2667127" cy="388957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600" b="1" kern="0" spc="120" dirty="0">
                    <a:solidFill>
                      <a:srgbClr val="A50034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JetBrains Mono" pitchFamily="34" charset="-120"/>
                  </a:rPr>
                  <a:t>① 안전성</a:t>
                </a:r>
                <a:endParaRPr lang="en-US" sz="16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6221850" y="4213884"/>
                <a:ext cx="7532250" cy="66669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3C3F46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IBM Plex Sans KR" pitchFamily="34" charset="-120"/>
                  </a:rPr>
                  <a:t>배터리 상태를 State·Reward에 반영하는 것만으로 </a:t>
                </a:r>
                <a:r>
                  <a:rPr lang="en-US" b="1" dirty="0">
                    <a:solidFill>
                      <a:srgbClr val="3C3F46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IBM Plex Sans KR" pitchFamily="34" charset="-120"/>
                  </a:rPr>
                  <a:t>방전율 0% </a:t>
                </a:r>
                <a:r>
                  <a:rPr lang="en-US" dirty="0">
                    <a:solidFill>
                      <a:srgbClr val="3C3F46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IBM Plex Sans KR" pitchFamily="34" charset="-120"/>
                  </a:rPr>
                  <a:t>달성</a:t>
                </a:r>
                <a:endParaRPr lang="en-US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2798A035-A966-4C80-A5B1-869DB76C2649}"/>
                </a:ext>
              </a:extLst>
            </p:cNvPr>
            <p:cNvGrpSpPr/>
            <p:nvPr/>
          </p:nvGrpSpPr>
          <p:grpSpPr>
            <a:xfrm>
              <a:off x="1449379" y="5011146"/>
              <a:ext cx="7760850" cy="638245"/>
              <a:chOff x="5993250" y="5068305"/>
              <a:chExt cx="7760850" cy="638245"/>
            </a:xfrm>
          </p:grpSpPr>
          <p:sp>
            <p:nvSpPr>
              <p:cNvPr id="13" name="Text 11"/>
              <p:cNvSpPr/>
              <p:nvPr/>
            </p:nvSpPr>
            <p:spPr>
              <a:xfrm>
                <a:off x="5993250" y="5147668"/>
                <a:ext cx="2667127" cy="388957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600" b="1" kern="0" spc="120" dirty="0">
                    <a:solidFill>
                      <a:srgbClr val="A50034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JetBrains Mono" pitchFamily="34" charset="-120"/>
                  </a:rPr>
                  <a:t>② 효율성</a:t>
                </a:r>
                <a:endParaRPr lang="en-US" sz="16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6221850" y="5354152"/>
                <a:ext cx="7532250" cy="35239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3C3F46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IBM Plex Sans KR" pitchFamily="34" charset="-120"/>
                  </a:rPr>
                  <a:t>안전성 확보와 동시에 작업 처리량도 </a:t>
                </a:r>
                <a:r>
                  <a:rPr lang="en-US" b="1" dirty="0">
                    <a:solidFill>
                      <a:srgbClr val="3C3F46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IBM Plex Sans KR" pitchFamily="34" charset="-120"/>
                  </a:rPr>
                  <a:t>Baseline 이상 </a:t>
                </a:r>
                <a:r>
                  <a:rPr lang="en-US" dirty="0">
                    <a:solidFill>
                      <a:srgbClr val="3C3F46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IBM Plex Sans KR" pitchFamily="34" charset="-120"/>
                  </a:rPr>
                  <a:t>유지</a:t>
                </a:r>
                <a:endParaRPr lang="en-US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3" name="Shape 7">
                <a:extLst>
                  <a:ext uri="{FF2B5EF4-FFF2-40B4-BE49-F238E27FC236}">
                    <a16:creationId xmlns:a16="http://schemas.microsoft.com/office/drawing/2014/main" id="{53F06597-12D1-466F-AD20-3DFBAA8DD288}"/>
                  </a:ext>
                </a:extLst>
              </p:cNvPr>
              <p:cNvSpPr/>
              <p:nvPr/>
            </p:nvSpPr>
            <p:spPr>
              <a:xfrm>
                <a:off x="5997274" y="5068305"/>
                <a:ext cx="7015096" cy="25977"/>
              </a:xfrm>
              <a:prstGeom prst="rect">
                <a:avLst/>
              </a:prstGeom>
              <a:solidFill>
                <a:srgbClr val="A50034"/>
              </a:solidFill>
              <a:ln/>
            </p:spPr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5DB7F056-B95A-430B-B414-16F6E07976C6}"/>
                </a:ext>
              </a:extLst>
            </p:cNvPr>
            <p:cNvGrpSpPr/>
            <p:nvPr/>
          </p:nvGrpSpPr>
          <p:grpSpPr>
            <a:xfrm>
              <a:off x="1449379" y="6256177"/>
              <a:ext cx="7760850" cy="955195"/>
              <a:chOff x="5993250" y="6313336"/>
              <a:chExt cx="7760850" cy="955195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5993250" y="6395351"/>
                <a:ext cx="2667127" cy="388957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600" b="1" kern="0" spc="120" dirty="0">
                    <a:solidFill>
                      <a:srgbClr val="A50034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JetBrains Mono" pitchFamily="34" charset="-120"/>
                  </a:rPr>
                  <a:t>③ 일반화</a:t>
                </a:r>
                <a:endParaRPr lang="en-US" sz="16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6221850" y="6601835"/>
                <a:ext cx="7532250" cy="66669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3C3F46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IBM Plex Sans KR" pitchFamily="34" charset="-120"/>
                  </a:rPr>
                  <a:t>Reward 설계가 RL 에이전트의 </a:t>
                </a:r>
                <a:r>
                  <a:rPr lang="en-US" b="1" dirty="0">
                    <a:solidFill>
                      <a:srgbClr val="3C3F46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IBM Plex Sans KR" pitchFamily="34" charset="-120"/>
                  </a:rPr>
                  <a:t>안전 행동을 유도 </a:t>
                </a:r>
                <a:r>
                  <a:rPr lang="en-US" dirty="0">
                    <a:solidFill>
                      <a:srgbClr val="3C3F46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IBM Plex Sans KR" pitchFamily="34" charset="-120"/>
                  </a:rPr>
                  <a:t>함을 실험 증명</a:t>
                </a:r>
                <a:endParaRPr lang="en-US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4" name="Shape 7">
                <a:extLst>
                  <a:ext uri="{FF2B5EF4-FFF2-40B4-BE49-F238E27FC236}">
                    <a16:creationId xmlns:a16="http://schemas.microsoft.com/office/drawing/2014/main" id="{5DA8BC07-17C2-4677-9500-3241F0551C8C}"/>
                  </a:ext>
                </a:extLst>
              </p:cNvPr>
              <p:cNvSpPr/>
              <p:nvPr/>
            </p:nvSpPr>
            <p:spPr>
              <a:xfrm>
                <a:off x="5997274" y="6313336"/>
                <a:ext cx="7015096" cy="45719"/>
              </a:xfrm>
              <a:prstGeom prst="rect">
                <a:avLst/>
              </a:prstGeom>
              <a:solidFill>
                <a:srgbClr val="A50034"/>
              </a:solidFill>
              <a:ln/>
            </p:spPr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573429" y="4066378"/>
            <a:ext cx="5141142" cy="2677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altLang="ko-KR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- END - </a:t>
            </a:r>
          </a:p>
          <a:p>
            <a:pPr marL="0" indent="0" algn="ctr">
              <a:lnSpc>
                <a:spcPct val="105000"/>
              </a:lnSpc>
              <a:buNone/>
            </a:pPr>
            <a:endParaRPr lang="en-US" altLang="ko-KR" sz="3000" b="1" kern="0" spc="-60" dirty="0">
              <a:solidFill>
                <a:srgbClr val="15161A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IBM Plex Sans KR" pitchFamily="34" charset="-12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ko-KR" altLang="en-US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감사합니다 </a:t>
            </a:r>
            <a:r>
              <a:rPr lang="en-US" altLang="ko-KR" sz="3000" b="1" kern="0" spc="-60" dirty="0">
                <a:solidFill>
                  <a:srgbClr val="1516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IBM Plex Sans KR" pitchFamily="34" charset="-120"/>
              </a:rPr>
              <a:t>!!</a:t>
            </a:r>
            <a:endParaRPr lang="en-US" sz="3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4199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2193</Words>
  <Application>Microsoft Office PowerPoint</Application>
  <PresentationFormat>사용자 지정</PresentationFormat>
  <Paragraphs>548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LG스마트체 Regular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12</cp:revision>
  <dcterms:created xsi:type="dcterms:W3CDTF">2026-06-11T04:05:59Z</dcterms:created>
  <dcterms:modified xsi:type="dcterms:W3CDTF">2026-06-12T12:54:35Z</dcterms:modified>
</cp:coreProperties>
</file>