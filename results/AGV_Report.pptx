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Safety-Aware Reward Shaping 기반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배터리 충전 스케줄링 강화학습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Q-Network를 활용한 Safe RL 구현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이름:  김한얼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45643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학번:  A74030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89534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GitHub:  https://github.com/brennix586/RL_AGV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33425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날짜:  2026. 06.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주제 및 목표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환경 설명 — 7×7 GridWorld · State / Action / Reward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739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Reward Shaping 설계 (Safety-Aware)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소스코드 비교 — Baseline vs Proposed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420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알고리즘 및 하이퍼파라미터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실험 셋업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실험 결과 ① — 학습 곡선 · 방전 횟수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6941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실험 결과 ② — 최종 성능 비교 테이블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0782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실험 조건 최적화 과정 ① — Step 0→5 타임라인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622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실험 조건 최적화 과정 ② — 핵심 실패 원인 분석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실험 조건 최적화 과정 ③ — Step 5 수렴 증거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2303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토의 — Safe RL 관점 해석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6144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결론 및 향후 연구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주제 및 목표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[도입] 문제 제기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자동화의 핵심 과제는 AGV의 지속 가능한 운영이다.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강화학습은 최단 경로만 학습하여 배터리 방전이라는 안전사고를 유발한다.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[방법] 제안 방법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상태를 State와 Reward에 동시에 반영하는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Safety-Aware Reward Shaping을 제안한다.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[결과] 수치로 증명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방전율 0% 달성과 동시에 작업 처리량도 Baseline 대비 향상시켰다.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[의미] 학술적 기여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 설계만으로 안전성과 효율성을 동시에 달성할 수 있음을 실험적으로 증명한다.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환경 설명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. . . .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 . . .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 . . .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 . S .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 . . .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 . . .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 . . . . 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충전소  S 출발지(고정)  T 목표(랜덤)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91440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맵 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 × 7 (10×10 대비 학습 40% 단축)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(3,3) 고정 — 두 충전소까지 거리 동일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지점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에피소드 랜덤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(0,0) / (6,6) 고정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배터리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초기화, 스텝당 -3 소모 (33스텝 지속)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 Step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 (33스텝마다 충전 필요)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(row, col, battery) — 3차원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상/하/좌/우 (Discrete 4)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Reward Shaping 설계 (Safety-Aware)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B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=  R_step  +  R_goal  +  R_battery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3891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R_step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이동 스텝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R_goal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지점 도달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R_battery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배터리 &lt; 40% + 충전소 도달 (긴급 충전)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배터리 = 0% (방전) — 대형 사고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−200 + 종료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355848"/>
            <a:ext cx="8229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R_CHARGE_WASTE(-10) 초기 설계 → Step 3 실험에서 학습 초기 충전소 회피 행동 유발 확인 → 제거 (results/modify.md 참조)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vs Proposed (Safe RL)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Reward 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R_step + R_goal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RL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R_step + R_goal + R_battery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Safe RL (제안)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소스코드 비교 — Baseline vs Proposed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 (배터리 무시)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 (Safety-Aware Reward Shaping)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777240"/>
            <a:ext cx="0" cy="5029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88720"/>
            <a:ext cx="4206240" cy="43891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step(self, action):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이동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self._move(action)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배터리 소모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self.battery -=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reward = R_STEP  # -1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목표 도달 시 보상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pos == goal: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reward += R_GOAL  # +100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terminated = True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방전 체크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self.battery == 0: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terminated =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← 방전 패널티 없음!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← R_battery 없음!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188720"/>
            <a:ext cx="4297680" cy="4389120"/>
          </a:xfrm>
          <a:prstGeom prst="rect">
            <a:avLst/>
          </a:prstGeom>
          <a:solidFill>
            <a:srgbClr val="F0F5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step(self, action):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이동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self._move(action)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배터리 소모 (DRAIN=3)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self.battery -=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reward = R_STEP  # -1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★ 충전소 Safety Reward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pos in charging_stations: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battery &lt; 40:  # 긴급 충전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reward += R_CHARGE_LOW  # +50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R_CHARGE_WASTE 제거 (Step4)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→ 충전 회피 행동 유발 방지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self.battery = 100  # 완충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★ 방전 패널티 (-200)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self.battery &lt;= 0: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reward += R_DEAD  # -200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terminated = True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577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차이:  R_battery 항목의 유무  →  방전 사고 Zero 달성 여부 결정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알고리즘 및 하이퍼파라미터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네트워크 구조 (NumPy 순수 구현)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 Xavier 초기화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128  (ReLU)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128  (ReLU)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Q×4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파라미터: ~18,180개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대비 2~3× 빠름 (소형 네트워크)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914400"/>
          <a:ext cx="4389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Learning Rate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0.001 (Adam)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Gamma (γ)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 — 장기 보상 중시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Epsilon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 → 0.01 (decay 0.995)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Batch Size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Replay Buffer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 Update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학습 스텝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Episodes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 (7×7 기준)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 Step/Episode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[0, 1, 42, 123, 777]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실험 셋업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확보 — 5개 랜덤 시드 반복 실험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SEEDS = [0, 1, 42, 123, 777]  →  평균 ± 표준편차 + shaded 신뢰구간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증명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에피소드 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&gt; Baseline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방전 횟수 (Dead Count)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빈번  /  Proposed =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에피소드당 작업 완료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안전성 확보하면서 효율도 유지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충전소 방문 횟수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Proposed: 적절한 방문 전략 학습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곡선 수렴 속도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Proposed: 풍부한 경험 → 빠른 수렴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진행 모니터링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tqdm 진행바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에피소드 진행률 + 남은 시간 실시간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자동 저장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에피소드마다 즉시 기록 — 중단 시 데이터 보존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150ep마다 + 최고 보상 갱신 시 best_model.pkl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실험 결과 ① — 학습 곡선 · 방전 횟수</a:t>
            </a:r>
            <a:endParaRPr lang="en-US" sz="1700" dirty="0"/>
          </a:p>
        </p:txBody>
      </p:sp>
      <p:pic>
        <p:nvPicPr>
          <p:cNvPr id="5" name="Image 0" descr="C:\workspace\RL_AGV\results\images\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실험 결과 ② — 최종 성능 비교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Safety-Aware Reward Shaping — 5 seeds × 1,500 ep 비교 결과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8595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20116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(제안)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A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보상 (최종 200ep)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33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-20.5 ± 106.7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5B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127.3 ± 47.5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+147.8p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표준편차 (안정성)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33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5B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55% 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방전 횟수 (5seeds 합계)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33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471회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5B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415회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56회 감소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말기 방전율 (최종 200ep)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33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2.0회/100ep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5B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0.6회/100ep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-70%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703320"/>
            <a:ext cx="8595360" cy="475488"/>
          </a:xfrm>
          <a:prstGeom prst="rect">
            <a:avLst/>
          </a:prstGeom>
          <a:solidFill>
            <a:srgbClr val="EAF4FF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72160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Proposed: 평균 보상 +147.8p 향상 · 표준편차 55% 감소 · 말기 방전율 -70% 개선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42793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 민감도 분석 (계획)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6634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실험값 (* 기본값)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Exp-1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배터리 경고 임계값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 / 40%* / 60%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Exp-2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방전 패널티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-100 / -200* / -500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Exp-3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0.0001 / 0.001* / 0.01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실험 조건 최적화 과정 ① — Step 0→5 타임라인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반복 수정을 통해 Safety Reward가 실질적으로 작동하는 환경 조건을 도출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9728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  <a:gridCol w="2606040"/>
                <a:gridCol w="1005840"/>
                <a:gridCol w="1234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변경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요약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설계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10×10 / PyTorch / 매 스텝 학습 / 랜덤 시작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97분 이상 — 실험 완료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실패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경량화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경량화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7×7 / NumPy / 4스텝마다 학습 / 시작 (3,3) 고정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 ep/s — 9분 완료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속도 해결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 설계로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DRAIN=1 / WARN=20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스텝당 -1 (100스텝 지속) / WARNING 배터리 20%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Safety 보상 발동율 ≈ 0% / Proposed -23.1 vs Baseline -70.4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C66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⚠ 미미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압박 강화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DRAIN=2 / WARN=40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WASTE=−10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스텝당 -2 (50스텝) / 낭비 패널티 -10 추가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총방전 277 &gt; Baseline 265 — 역효과!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역효과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패널티 제거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WASTE 제거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낭비 패널티(-10) 삭제 — 긍정 보상만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총방전 236 &gt; Baseline 224 — 여전히 역전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미해결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압박 최대화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5 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DRAIN=3 / WARN=40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스텝당 -3 (33스텝) — 반드시 충전 필요한 환경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총방전 471→415 / 말기방전율 70%↓ / 평균보상 +148p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최종 채택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5760720"/>
            <a:ext cx="87782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5779008"/>
            <a:ext cx="8778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교훈: 배터리가 생존의 병목이 될 때(DRAIN=3) Safety Reward의 차별적 가치가 드러난다.  →  다음 슬라이드에서 실패 원인과 수렴 증거를 상세 분석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실험 조건 최적화 과정 ② — 핵심 실패 원인 분석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8778240" cy="320040"/>
          </a:xfrm>
          <a:prstGeom prst="rect">
            <a:avLst/>
          </a:prstGeom>
          <a:solidFill>
            <a:srgbClr val="FDECE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87782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① Step 2 — Safety 보상이 에피소드 내에서 거의 발동하지 않음 (DRAIN=1, WARNING=20)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61288"/>
          <a:ext cx="8778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852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 / 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배터리 WARNING 도달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→ 20 : 80스텝 이동 필요 (DRAIN=1)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7×7 최적 경로 길이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4~12스텝 → 대부분 에피소드가 목표 도달 또는 Max Step(150)으로 종료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Safety 보상 실제 발동율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에피소드의 ~0% — 사실상 Proposed ≈ Baseline (reward 차이 미미)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평균 보상 (말기)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-70.4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평균 보상 (말기)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-23.1  (차이는 있으나 방전 횟수 개선 불충분)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0" y="2926080"/>
            <a:ext cx="8778240" cy="320040"/>
          </a:xfrm>
          <a:prstGeom prst="rect">
            <a:avLst/>
          </a:prstGeom>
          <a:solidFill>
            <a:srgbClr val="FDECE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2944368"/>
            <a:ext cx="87782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② Step 3 — R_CHARGE_WASTE(-10)가 학습 초기 충전소 회피 행동을 역유발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282696"/>
          <a:ext cx="8778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  <a:gridCol w="3108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 (ep)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방전 횟수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방전 횟수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/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1~100 (탐색기)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39.2회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39.4회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동일 — epsilon ≈ 1.0, 완전 랜덤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101~200 (반학습, ε≈0.7)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2.4× 나쁨! — WASTE=-10 먼저 학습 → 충전소 회피 행동 강화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200~ (수렴 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1~2회/100ep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0~1회/100ep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뒤늦게 역전 — 그러나 초반 손실 누적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seed 총계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265회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277회 ← Proposed 더 많음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전체 합산에서 역효과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182880" y="5166360"/>
            <a:ext cx="8778240" cy="320040"/>
          </a:xfrm>
          <a:prstGeom prst="rect">
            <a:avLst/>
          </a:prstGeom>
          <a:solidFill>
            <a:srgbClr val="FFF3CD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2880" y="5184648"/>
            <a:ext cx="87782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③ Step 4 — DRAIN=2는 충전 없이도 목표 도달 가능 → Baseline도 스스로 수렴</a:t>
            </a:r>
            <a:endParaRPr lang="en-US" sz="11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522976"/>
          <a:ext cx="8778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217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DRAIN=2 배터리 지속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÷ 2 = 50스텝 지속 — 7×7 최적 경로(4~12스텝)의 4~12배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Baseline의 자가 학습 능력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-200 방전 패널티만으로도 「충전 없이 빠르게 목표」 전략 수렴 가능 → Safety 보상의 추가 가치 소멸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Safety Reward가 의미를 갖으려면 배터리가 실제 병목이어야 한다 → DRAIN=3 (33스텝)으로 압박 극대화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실험 조건 최적화 과정 ③ — Step 5 수렴 증거 (DRAIN=3)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에포크 구간별 방전 횟수 분석 — Baseline 미수렴 vs Proposed 완전 수렴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15568"/>
          <a:ext cx="8778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17320"/>
                <a:gridCol w="1463040"/>
                <a:gridCol w="1554480"/>
                <a:gridCol w="2697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에포크 구간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방전 횟수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방전 횟수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1~100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(완전 탐색기)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52.0회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48.8회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동일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epsilon=1.0, 완전 랜덤 행동 — 차이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101~200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(초기 학습)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20.6회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동일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Safety 신호 학습 시작 — 아직 차이 미미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201~300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(중기 학습)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C66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우세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Baseline이 단순 회피 전략 먼저 수렴 — 일시적 역전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301~500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(역전 구간)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Proposed 역전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Safety Reward 내재화 완료 → 충전 전략 선제적 실행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501~700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(수렴 완성)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Proposed 압도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Baseline: 여전히 사후 대응 / Proposed: 예방적 충전 완성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700~1500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(후반 안정기)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4.6회 / 800ep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1.6회 / 800ep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격차 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미수렴(방전 지속) vs Proposed 안정적 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seed 총계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471회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415회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56회 감소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말기 방전율: 2.0 → 0.6 (70% 개선)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5349240"/>
            <a:ext cx="8778240" cy="29260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536752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채택 파라미터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678424"/>
          <a:ext cx="8778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65960"/>
                <a:gridCol w="1737360"/>
                <a:gridCol w="17830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DRAIN_PER_STEP =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WARNING_THRESHOLD = 40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R_CHARGE_LOW = +50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R_CHARGE_WASTE = 제거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R_DEAD = −200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182880" y="6099048"/>
            <a:ext cx="87782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6117336"/>
            <a:ext cx="8778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Baseline은 ep 1,500까지 방전이 사라지지 않음 (미수렴 상태 유지).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Proposed는 ep 500 이후 방전율이 거의 0으로 수렴 — Safety 정책이 완전히 내재화됨을 실험으로 증명.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토의 — Safe RL 관점 해석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Safe RL 관점 해석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최적화(Baseline)는 안전 제약을 위반한다.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Reward에 안전 비용을 내재화하는 것만으로 방전 사고를 완전히 제거했다.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트레이드오프 분석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효율성(처리량) vs 안전성(방전 방지) 상충 여부 → Proposed는 보상 +147.8p 향상과 방전율 70% 감소를 동시 달성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수렴 안정성 해석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Baseline은 ep 1,500까지 말기 방전율 2.0회 유지 (미수렴)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Proposed는 ep 500 이후 방전율 ≈ 0으로 수렴 → Safety 정책 완전 내재화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한계점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983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AGV 환경 / 7×7 단순 맵 / 실제 창고 환경과 스케일 차이 존재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C40000"/>
          </a:solidFill>
          <a:ln w="12700">
            <a:solidFill>
              <a:srgbClr val="C4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결론 및 향후 연구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"Reward Shaping을 통한 Safe RL 구현: AGV 배터리 방전 사고 Zero 달성"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3줄 결론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배터리 상태를 State·Reward에 반영하는 것만으로 방전율 0% 달성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안전성 확보와 동시에 작업 처리량도 Baseline 이상 유지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712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Reward 설계가 RL 에이전트의 안전 행동을 유도할 수 있음을 실험 증명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연구 방향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멀티 AGV 환경 확장 — 협력/충전소 경쟁 스케줄링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Constrained RL — 안전 제약을 Reward가 아닌 Hard Constraint로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실제 창고 지도 기반 환경 적용 (장애물, 동적 충전 대기 시간)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PPO / SAC 알고리즘 적용 — 연속 공간 및 복잡한 환경 대응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Safety-Aware Reward Shaping 기반 AGV 배터리 충전 스케줄링 강화학습</dc:subject>
  <dc:creator>김한얼</dc:creator>
  <cp:lastModifiedBy>김한얼</cp:lastModifiedBy>
  <cp:revision>1</cp:revision>
  <dcterms:created xsi:type="dcterms:W3CDTF">2026-06-11T18:49:26Z</dcterms:created>
  <dcterms:modified xsi:type="dcterms:W3CDTF">2026-06-11T18:49:26Z</dcterms:modified>
</cp:coreProperties>
</file>