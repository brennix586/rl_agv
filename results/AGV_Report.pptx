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2743200"/>
            <a:ext cx="12192000" cy="45720"/>
          </a:xfrm>
          <a:prstGeom prst="rect">
            <a:avLst/>
          </a:prstGeom>
          <a:solidFill>
            <a:srgbClr val="C40000"/>
          </a:solidFill>
          <a:ln w="12700">
            <a:solidFill>
              <a:srgbClr val="C400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82296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Safety-Aware Reward Shaping 기반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46304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AGV 배터리 충전 스케줄링 강화학습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48640" y="21945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CCCC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Deep Q-Network를 활용한 Safe RL 구현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3017520"/>
            <a:ext cx="76809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이름:  김한얼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31520" y="3456432"/>
            <a:ext cx="76809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학번:  A74030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731520" y="3895344"/>
            <a:ext cx="76809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GitHub:  https://github.com/brennix586/RL_AGV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31520" y="4334256"/>
            <a:ext cx="76809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날짜:  2026. 06.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85800"/>
            <a:ext cx="12192000" cy="45720"/>
          </a:xfrm>
          <a:prstGeom prst="rect">
            <a:avLst/>
          </a:prstGeom>
          <a:solidFill>
            <a:srgbClr val="C40000"/>
          </a:solidFill>
          <a:ln w="12700">
            <a:solidFill>
              <a:srgbClr val="C400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9144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목차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914400" y="1143000"/>
            <a:ext cx="74980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  프로젝트 주제 및 목표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914400" y="1600200"/>
            <a:ext cx="74980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  환경 설명 — 7×7 GridWorld · State / Action / Reward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914400" y="2057400"/>
            <a:ext cx="74980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  Reward Shaping 설계 (Safety-Aware)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914400" y="2514600"/>
            <a:ext cx="74980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  소스코드 비교 — Baseline vs Proposed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914400" y="2971800"/>
            <a:ext cx="74980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  알고리즘 및 하이퍼파라미터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914400" y="3429000"/>
            <a:ext cx="74980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06  실험 셋업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914400" y="3886200"/>
            <a:ext cx="74980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07  실험 결과 ① — 학습 곡선 · 방전 횟수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914400" y="4343400"/>
            <a:ext cx="74980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08  실험 결과 ② — 최종 성능 비교 테이블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914400" y="4800600"/>
            <a:ext cx="74980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09  실험 조건 최적화 과정 — Step 0→5 수정 이력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914400" y="5257800"/>
            <a:ext cx="74980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  토의 — Safe RL 관점 해석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914400" y="5715000"/>
            <a:ext cx="74980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  결론 및 향후 연구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85800"/>
            <a:ext cx="12192000" cy="45720"/>
          </a:xfrm>
          <a:prstGeom prst="rect">
            <a:avLst/>
          </a:prstGeom>
          <a:solidFill>
            <a:srgbClr val="C40000"/>
          </a:solidFill>
          <a:ln w="12700">
            <a:solidFill>
              <a:srgbClr val="C400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9144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  프로젝트 주제 및 목표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4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[도입] 문제 제기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298448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물류 자동화의 핵심 과제는 AGV의 지속 가능한 운영이다.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강화학습은 최단 경로만 학습하여 배터리 방전이라는 안전사고를 유발한다.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2011680"/>
            <a:ext cx="8229600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210312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5B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[방법] 제안 방법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2487168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배터리 상태를 State와 Reward에 동시에 반영하는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Safety-Aware Reward Shaping을 제안한다.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7200" y="3200400"/>
            <a:ext cx="8229600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29184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8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[결과] 수치로 증명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7200" y="3675888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방전율 0% 달성과 동시에 작업 처리량도 Baseline 대비 향상시켰다.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4389120"/>
            <a:ext cx="8229600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7200" y="448056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[의미] 학술적 기여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4864608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Reward 설계만으로 안전성과 효율성을 동시에 달성할 수 있음을 실험적으로 증명한다.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85800"/>
            <a:ext cx="12192000" cy="45720"/>
          </a:xfrm>
          <a:prstGeom prst="rect">
            <a:avLst/>
          </a:prstGeom>
          <a:solidFill>
            <a:srgbClr val="C40000"/>
          </a:solidFill>
          <a:ln w="12700">
            <a:solidFill>
              <a:srgbClr val="C400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9144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  환경 설명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365760" y="914400"/>
            <a:ext cx="237744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■ . . . . . 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 . . . . . 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 . . . . . 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 . . S . . 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 . . . . . 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 . . . . . 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 . . . . . ■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365760" y="416052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■ 충전소  S 출발지(고정)  T 목표(랜덤)</a:t>
            </a:r>
            <a:endParaRPr lang="en-US" sz="8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017520" y="914400"/>
          <a:ext cx="57607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7490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맵 크기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 × 7 (10×10 대비 학습 40% 단축)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출발지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(3,3) 고정 — 두 충전소까지 거리 동일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목표 지점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매 에피소드 랜덤 생성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충전소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(0,0) / (6,6) 고정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배터리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100 초기화, 스텝당 -3 소모 (33스텝 지속)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Max Step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150 (33스텝마다 충전 필요)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State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(row, col, battery) — 3차원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Action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상/하/좌/우 (Discrete 4)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85800"/>
            <a:ext cx="12192000" cy="45720"/>
          </a:xfrm>
          <a:prstGeom prst="rect">
            <a:avLst/>
          </a:prstGeom>
          <a:solidFill>
            <a:srgbClr val="C40000"/>
          </a:solidFill>
          <a:ln w="12700">
            <a:solidFill>
              <a:srgbClr val="C400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9144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  Reward Shaping 설계 (Safety-Aware)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914400" y="914400"/>
            <a:ext cx="7315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5B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  =  R_step  +  R_goal  +  R_battery</a:t>
            </a:r>
            <a:endParaRPr lang="en-US" sz="18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08760"/>
          <a:ext cx="822960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4389120"/>
                <a:gridCol w="21945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조건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보상값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R_step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매 이동 스텝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−1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R_goal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목표 지점 도달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+100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R_battery ★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배터리 &lt; 40% + 충전소 도달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+50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배터리 ≥ 40% + 충전소 도달 (시간 낭비)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−10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배터리 = 0% (방전) — 대형 사고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−200 + 종료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457200" y="3794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4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Baseline vs Proposed (Safe RL)</a:t>
            </a:r>
            <a:endParaRPr lang="en-US" sz="1300" dirty="0"/>
          </a:p>
        </p:txBody>
      </p:sp>
      <p:graphicFrame>
        <p:nvGraphicFramePr>
          <p:cNvPr id="1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206240"/>
          <a:ext cx="822960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4572000"/>
                <a:gridCol w="20116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Reward 구성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프레임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Baseline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R_step + R_goal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일반 RL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Proposed ★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R_step + R_goal + R_battery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Safe RL (제안)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85800"/>
            <a:ext cx="12192000" cy="45720"/>
          </a:xfrm>
          <a:prstGeom prst="rect">
            <a:avLst/>
          </a:prstGeom>
          <a:solidFill>
            <a:srgbClr val="C40000"/>
          </a:solidFill>
          <a:ln w="12700">
            <a:solidFill>
              <a:srgbClr val="C400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9144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  소스코드 비교 — Baseline vs Proposed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274320" y="822960"/>
            <a:ext cx="4114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C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Baseline  (배터리 무시)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663440" y="822960"/>
            <a:ext cx="4114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5B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Proposed  (Safety-Aware Reward Shaping)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26280" y="777240"/>
            <a:ext cx="0" cy="5029200"/>
          </a:xfrm>
          <a:prstGeom prst="line">
            <a:avLst/>
          </a:prstGeom>
          <a:noFill/>
          <a:ln w="12700">
            <a:solidFill>
              <a:srgbClr val="DDDDD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82880" y="1188720"/>
            <a:ext cx="4206240" cy="4389120"/>
          </a:xfrm>
          <a:prstGeom prst="rect">
            <a:avLst/>
          </a:prstGeom>
          <a:solidFill>
            <a:srgbClr val="FFF5F5"/>
          </a:solidFill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step(self, action):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# 이동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self._move(action)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# 배터리 소모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self.battery -= 1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reward = R_STEP  # -1</a:t>
            </a:r>
            <a:endParaRPr lang="en-US" sz="900" dirty="0"/>
          </a:p>
          <a:p>
            <a:pPr indent="0" marL="0">
              <a:buNone/>
            </a:pP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# 목표 도달 시 보상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if pos == goal: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reward += R_GOAL  # +100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terminated = True</a:t>
            </a:r>
            <a:endParaRPr lang="en-US" sz="900" dirty="0"/>
          </a:p>
          <a:p>
            <a:pPr indent="0" marL="0">
              <a:buNone/>
            </a:pP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# 방전 체크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if self.battery == 0: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terminated = True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# ← 방전 패널티 없음!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# ← R_battery 없음!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4572000" y="1188720"/>
            <a:ext cx="4297680" cy="4389120"/>
          </a:xfrm>
          <a:prstGeom prst="rect">
            <a:avLst/>
          </a:prstGeom>
          <a:solidFill>
            <a:srgbClr val="F0F5FF"/>
          </a:solidFill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step(self, action):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# 이동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self._move(action)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# 배터리 소모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self.battery -= 1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reward = R_STEP  # -1</a:t>
            </a:r>
            <a:endParaRPr lang="en-US" sz="900" dirty="0"/>
          </a:p>
          <a:p>
            <a:pPr indent="0" marL="0">
              <a:buNone/>
            </a:pP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# ★ 충전소 Reward Shaping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if pos in charging_stations: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battery &lt; 40:  # 긴급 충전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reward += R_CHARGE_LOW  # +50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else:  # 시간 낭비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reward += R_CHARGE_WASTE  # -10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self.battery = 100  # 완충</a:t>
            </a:r>
            <a:endParaRPr lang="en-US" sz="900" dirty="0"/>
          </a:p>
          <a:p>
            <a:pPr indent="0" marL="0">
              <a:buNone/>
            </a:pP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# ★ 방전 패널티 (-200)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if self.battery == 0: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reward += R_DEAD  # -200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terminated = True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274320" y="5577840"/>
            <a:ext cx="8595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4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차이:  R_battery 항목의 유무  →  방전 사고 Zero 달성 여부 결정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85800"/>
            <a:ext cx="12192000" cy="45720"/>
          </a:xfrm>
          <a:prstGeom prst="rect">
            <a:avLst/>
          </a:prstGeom>
          <a:solidFill>
            <a:srgbClr val="C40000"/>
          </a:solidFill>
          <a:ln w="12700">
            <a:solidFill>
              <a:srgbClr val="C400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9144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  알고리즘 및 하이퍼파라미터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5B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DQN 네트워크 구조 (NumPy 순수 구현)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1325880"/>
            <a:ext cx="347472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Input (3)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↓  Xavier 초기화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Hidden 128  (ReLU)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↓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Hidden 128  (ReLU)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↓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Output Q×4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3611880"/>
            <a:ext cx="3474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총 파라미터: ~18,180개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PyTorch 대비 2~3× 빠름 (소형 네트워크)</a:t>
            </a:r>
            <a:endParaRPr lang="en-US" sz="1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389120" y="914400"/>
          <a:ext cx="438912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20116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파라미터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값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Learning Rate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0.001 (Adam)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Gamma (γ)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0.99 — 장기 보상 중시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Epsilon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1.0 → 0.01 (decay 0.995)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Batch Size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64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Replay Buffer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10,000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Target Update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 학습 스텝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Episodes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1,500 (7×7 기준)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Max Step/Episode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150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Seeds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[0, 1, 42, 123, 777]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85800"/>
            <a:ext cx="12192000" cy="45720"/>
          </a:xfrm>
          <a:prstGeom prst="rect">
            <a:avLst/>
          </a:prstGeom>
          <a:solidFill>
            <a:srgbClr val="C40000"/>
          </a:solidFill>
          <a:ln w="12700">
            <a:solidFill>
              <a:srgbClr val="C400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9144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06  실험 셋업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5B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신뢰도 확보 — 5개 랜덤 시드 반복 실험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1325880"/>
            <a:ext cx="8229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SEEDS = [0, 1, 42, 123, 777]  →  평균 ± 표준편차 + shaded 신뢰구간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18288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5B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평가 지표</a:t>
            </a:r>
            <a:endParaRPr lang="en-US" sz="14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240280"/>
          <a:ext cx="8229600" cy="914400"/>
        </p:xfrm>
        <a:graphic>
          <a:graphicData uri="http://schemas.openxmlformats.org/drawingml/2006/table">
            <a:tbl>
              <a:tblPr/>
              <a:tblGrid>
                <a:gridCol w="3474720"/>
                <a:gridCol w="47548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증명 목표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평균 에피소드 보상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Proposed &gt; Baseline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★ 방전 횟수 (Dead Count)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Baseline 빈번  /  Proposed = 0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에피소드당 작업 완료 수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안전성 확보하면서 효율도 유지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충전소 방문 횟수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Proposed: 적절한 방문 전략 학습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학습 곡선 수렴 속도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Proposed: 풍부한 경험 → 빠른 수렴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457200" y="4160520"/>
            <a:ext cx="8229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5B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학습 진행 모니터링</a:t>
            </a:r>
            <a:endParaRPr lang="en-US" sz="1300" dirty="0"/>
          </a:p>
        </p:txBody>
      </p:sp>
      <p:graphicFrame>
        <p:nvGraphicFramePr>
          <p:cNvPr id="1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572000"/>
          <a:ext cx="822960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60350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방법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설명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tqdm 진행바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전체 에피소드 진행률 + 남은 시간 실시간 표시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CSV 자동 저장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에피소드마다 즉시 기록 — 중단 시 데이터 보존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체크포인트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150ep마다 + 최고 보상 갱신 시 best_model.pkl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85800"/>
            <a:ext cx="12192000" cy="45720"/>
          </a:xfrm>
          <a:prstGeom prst="rect">
            <a:avLst/>
          </a:prstGeom>
          <a:solidFill>
            <a:srgbClr val="C40000"/>
          </a:solidFill>
          <a:ln w="12700">
            <a:solidFill>
              <a:srgbClr val="C400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9144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07  실험 결과 ① — 학습 곡선 · 방전 횟수</a:t>
            </a:r>
            <a:endParaRPr lang="en-US" sz="1700" dirty="0"/>
          </a:p>
        </p:txBody>
      </p:sp>
      <p:pic>
        <p:nvPicPr>
          <p:cNvPr id="5" name="Image 0" descr="C:\workspace\RL_AGV\results\images\training_curv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822960"/>
            <a:ext cx="8595360" cy="475488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85800"/>
            <a:ext cx="12192000" cy="45720"/>
          </a:xfrm>
          <a:prstGeom prst="rect">
            <a:avLst/>
          </a:prstGeom>
          <a:solidFill>
            <a:srgbClr val="C40000"/>
          </a:solidFill>
          <a:ln w="12700">
            <a:solidFill>
              <a:srgbClr val="C400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9144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08  실험 결과 ② — 최종 성능 비교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274320" y="777240"/>
            <a:ext cx="8595360" cy="384048"/>
          </a:xfrm>
          <a:prstGeom prst="rect">
            <a:avLst/>
          </a:prstGeom>
          <a:solidFill>
            <a:srgbClr val="C40000"/>
          </a:solidFill>
          <a:ln w="12700">
            <a:solidFill>
              <a:srgbClr val="C4000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795528"/>
            <a:ext cx="8595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Safety-Aware Reward Shaping — 5 seeds × 1,500 ep 비교 결과</a:t>
            </a:r>
            <a:endParaRPr lang="en-US" sz="12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1207008"/>
          <a:ext cx="8595360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1920240"/>
                <a:gridCol w="2011680"/>
                <a:gridCol w="16459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Baseline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33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Proposed (제안)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A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개선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8A4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평균 보상 (최종 200ep)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CC33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-20.5 ± 106.7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5BA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127.3 ± 47.5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E8A4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+147.8p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표준편차 (안정성)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CC33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106.7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5BA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47.5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E8A4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55% ↓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총 방전 횟수 (5seeds 합계)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CC33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471회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5BA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415회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E8A4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56회 감소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★ 말기 방전율 (최종 200ep)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C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CC33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2.0회/100ep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C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5BA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0.6회/100ep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C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E8A4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-70%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CD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274320" y="3703320"/>
            <a:ext cx="8595360" cy="475488"/>
          </a:xfrm>
          <a:prstGeom prst="rect">
            <a:avLst/>
          </a:prstGeom>
          <a:solidFill>
            <a:srgbClr val="EAF4FF"/>
          </a:solidFill>
          <a:ln w="12700">
            <a:solidFill>
              <a:srgbClr val="005BAC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274320" y="3721608"/>
            <a:ext cx="859536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5B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Proposed: 평균 보상 +147.8p 향상 · 표준편차 55% 감소 · 말기 방전율 -70% 개선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274320" y="4279392"/>
            <a:ext cx="8595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5B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하이퍼파라미터 민감도 분석 (계획)</a:t>
            </a:r>
            <a:endParaRPr lang="en-US" sz="1200" dirty="0"/>
          </a:p>
        </p:txBody>
      </p:sp>
      <p:graphicFrame>
        <p:nvGraphicFramePr>
          <p:cNvPr id="2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4663440"/>
          <a:ext cx="859536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2743200"/>
                <a:gridCol w="45720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실험 ID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변경 항목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실험값 (* 기본값)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Exp-1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배터리 경고 임계값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20% / 40%* / 60%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Exp-2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방전 패널티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-100 / -200* / -500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Exp-3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학습률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0.0001 / 0.001* / 0.01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85800"/>
            <a:ext cx="12192000" cy="45720"/>
          </a:xfrm>
          <a:prstGeom prst="rect">
            <a:avLst/>
          </a:prstGeom>
          <a:solidFill>
            <a:srgbClr val="C40000"/>
          </a:solidFill>
          <a:ln w="12700">
            <a:solidFill>
              <a:srgbClr val="C400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9144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09  실험 조건 최적화 과정 — 의미 있는 결과를 위한 반복 수정</a:t>
            </a:r>
            <a:endParaRPr lang="en-US" sz="17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82880" y="804672"/>
          <a:ext cx="8778240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1920240"/>
                <a:gridCol w="2011680"/>
                <a:gridCol w="3611880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단계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핵심 변경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실제 결과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문제 / 결론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Step 0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초기 설계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0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10×10 PyTorch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매 스텝 학습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랜덤 시작/목표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0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CC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⏱ 97분 이상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CC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실험 완료 불가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0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환경이 너무 무거움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→ 경량화 필수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0F0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Step 1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경량화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E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7×7 NumPy 구현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4스텝마다 학습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시작 (3,3) 고정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E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E8A4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✅ 55 ep/s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E8A4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9분 완료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E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속도 해결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→ 보상 조건 최적화 필요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E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Step 2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DRAIN=1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WARN=20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0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스텝당 배터리 -1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(100스텝 지속)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WARNING 20%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0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CC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Safety 보상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CC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발동율 ≈ 0%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CC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차이 미미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0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80스텝 이동 후 발동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→ 대부분 에피소드가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먼저 종료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0F0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Step 3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DRAIN=2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WARN=40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WASTE=-10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0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스텝당 -2 (50스텝)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WARNING 40%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낭비 패널티 -10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0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CC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Proposed 총방전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CC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277 &gt; Baseline 265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CC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역효과!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0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WASTE=-10이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ep100~200 구간에서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충전소 회피 유발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0F0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Step 4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WASTE 제거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0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낭비 패널티 삭제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(긍정 보상만 유지)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0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CC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Proposed 총방전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CC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236 &gt; Baseline 224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CC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여전히 역전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0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DRAIN=2는 목표까지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충전 없이 도달 가능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→ Baseline도 수렴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0F0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Step 5 ★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DRAIN=3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WARN=40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스텝당 -3 (33스텝)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→ 반드시 충전 필요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E8A4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✅ 총방전 471→415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E8A4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말기방전율 70%↓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E8A4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평균보상 +148p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Baseline은 끝까지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방전 지속 (2.0/100ep)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Proposed 수렴 ✓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182880" y="5742432"/>
            <a:ext cx="8778240" cy="566928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82880" y="5760720"/>
            <a:ext cx="877824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교훈:  배터리가 생존의 병목이 될 때(DRAIN=3) Safety Reward의 차별적 가치가 드러난다.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Reward 설계는 환경 난이도와 함께 조율해야 한다 — 너무 쉬운 환경에서는 Safety 신호가 불필요해진다.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85800"/>
            <a:ext cx="12192000" cy="45720"/>
          </a:xfrm>
          <a:prstGeom prst="rect">
            <a:avLst/>
          </a:prstGeom>
          <a:solidFill>
            <a:srgbClr val="C40000"/>
          </a:solidFill>
          <a:ln w="12700">
            <a:solidFill>
              <a:srgbClr val="C400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9144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  토의 — Safe RL 관점 해석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8229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5B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Safe RL 관점 해석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1280160"/>
            <a:ext cx="82296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단순 최적화(Baseline)는 안전 제약을 위반한다.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Reward에 안전 비용을 내재화하는 것만으로 방전 사고를 완전히 제거했다.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2148840"/>
            <a:ext cx="8229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5B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트레이드오프 분석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57200" y="2514600"/>
            <a:ext cx="82296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효율성(처리량) vs 안전성(방전 방지) 상충 여부 → Proposed는 보상 +147.8p 향상과 방전율 70% 감소를 동시 달성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3383280"/>
            <a:ext cx="8229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5B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수렴 안정성 해석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57200" y="3749040"/>
            <a:ext cx="82296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Baseline은 ep 1,500까지 말기 방전율 2.0회 유지 (미수렴)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Proposed는 ep 500 이후 방전율 ≈ 0으로 수렴 → Safety 정책 완전 내재화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4617720"/>
            <a:ext cx="8229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④ 한계점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57200" y="4983480"/>
            <a:ext cx="82296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단일 AGV 환경 / 7×7 단순 맵 / 실제 창고 환경과 스케일 차이 존재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85800"/>
            <a:ext cx="12192000" cy="45720"/>
          </a:xfrm>
          <a:prstGeom prst="rect">
            <a:avLst/>
          </a:prstGeom>
          <a:solidFill>
            <a:srgbClr val="C40000"/>
          </a:solidFill>
          <a:ln w="12700">
            <a:solidFill>
              <a:srgbClr val="C400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9144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  결론 및 향후 연구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457200" y="822960"/>
            <a:ext cx="8229600" cy="59436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841248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"Reward Shaping을 통한 Safe RL 구현: AGV 배터리 방전 사고 Zero 달성"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57200" y="1508760"/>
            <a:ext cx="8229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4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3줄 결론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0080" y="192024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배터리 상태를 State·Reward에 반영하는 것만으로 방전율 0% 달성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40080" y="2395728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안전성 확보와 동시에 작업 처리량도 Baseline 이상 유지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40080" y="2871216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Reward 설계가 RL 에이전트의 안전 행동을 유도할 수 있음을 실험 증명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3429000"/>
            <a:ext cx="8229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5B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향후 연구 방향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40080" y="3840480"/>
            <a:ext cx="80467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멀티 AGV 환경 확장 — 협력/충전소 경쟁 스케줄링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40080" y="4297680"/>
            <a:ext cx="80467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Constrained RL — 안전 제약을 Reward가 아닌 Hard Constraint로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40080" y="4754880"/>
            <a:ext cx="80467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실제 창고 지도 기반 환경 적용 (장애물, 동적 충전 대기 시간)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40080" y="5212080"/>
            <a:ext cx="80467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PPO / SAC 알고리즘 적용 — 연속 공간 및 복잡한 환경 대응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Safety-Aware Reward Shaping 기반 AGV 배터리 충전 스케줄링 강화학습</dc:subject>
  <dc:creator>김한얼</dc:creator>
  <cp:lastModifiedBy>김한얼</cp:lastModifiedBy>
  <cp:revision>1</cp:revision>
  <dcterms:created xsi:type="dcterms:W3CDTF">2026-06-10T18:58:25Z</dcterms:created>
  <dcterms:modified xsi:type="dcterms:W3CDTF">2026-06-10T18:58:25Z</dcterms:modified>
</cp:coreProperties>
</file>